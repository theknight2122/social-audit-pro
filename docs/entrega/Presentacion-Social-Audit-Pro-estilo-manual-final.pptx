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c100caf3b84f6c" /><Relationship Type="http://schemas.openxmlformats.org/officeDocument/2006/relationships/extended-properties" Target="/docProps/app.xml" Id="R231fc7f64d224521" /><Relationship Type="http://schemas.openxmlformats.org/officeDocument/2006/relationships/officeDocument" Target="/ppt/presentation.xml" Id="R53688723bc924f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cacfb7d00f4299"/>
  </p:sldMasterIdLst>
  <p:notesMasterIdLst>
    <p:notesMasterId xmlns:r="http://schemas.openxmlformats.org/officeDocument/2006/relationships" r:id="R66a1eefb24ec4041"/>
  </p:notesMasterIdLst>
  <p:sldIdLst>
    <p:sldId xmlns:r="http://schemas.openxmlformats.org/officeDocument/2006/relationships" id="256" r:id="Ra8244b044f454036"/>
    <p:sldId xmlns:r="http://schemas.openxmlformats.org/officeDocument/2006/relationships" id="257" r:id="R6715ea97fad542f5"/>
    <p:sldId xmlns:r="http://schemas.openxmlformats.org/officeDocument/2006/relationships" id="258" r:id="R95508545b0a14d35"/>
    <p:sldId xmlns:r="http://schemas.openxmlformats.org/officeDocument/2006/relationships" id="259" r:id="R09cc7e5d58c94c86"/>
    <p:sldId xmlns:r="http://schemas.openxmlformats.org/officeDocument/2006/relationships" id="260" r:id="R7966873ccc9f4c50"/>
    <p:sldId xmlns:r="http://schemas.openxmlformats.org/officeDocument/2006/relationships" id="261" r:id="R72f8e922e59647c2"/>
    <p:sldId xmlns:r="http://schemas.openxmlformats.org/officeDocument/2006/relationships" id="262" r:id="R98e0eb7c7bee4d43"/>
    <p:sldId xmlns:r="http://schemas.openxmlformats.org/officeDocument/2006/relationships" id="263" r:id="R9fe33f644a23429a"/>
    <p:sldId xmlns:r="http://schemas.openxmlformats.org/officeDocument/2006/relationships" id="264" r:id="Rfbe8ca6b87ca4aaa"/>
    <p:sldId xmlns:r="http://schemas.openxmlformats.org/officeDocument/2006/relationships" id="265" r:id="R47d9e1fe75134426"/>
    <p:sldId xmlns:r="http://schemas.openxmlformats.org/officeDocument/2006/relationships" id="266" r:id="Rc7efe275676346ca"/>
    <p:sldId xmlns:r="http://schemas.openxmlformats.org/officeDocument/2006/relationships" id="267" r:id="R7140442570474f3d"/>
    <p:sldId xmlns:r="http://schemas.openxmlformats.org/officeDocument/2006/relationships" id="268" r:id="Re9d5c48e343c4899"/>
    <p:sldId xmlns:r="http://schemas.openxmlformats.org/officeDocument/2006/relationships" id="269" r:id="R85cd0d48b34f4d1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4af151f7d7e4078" /><Relationship Type="http://schemas.openxmlformats.org/officeDocument/2006/relationships/slideMaster" Target="/ppt/slideMasters/slideMaster1.xml" Id="R20cacfb7d00f4299" /><Relationship Type="http://schemas.openxmlformats.org/officeDocument/2006/relationships/notesMaster" Target="/ppt/notesMasters/notesMaster1.xml" Id="R66a1eefb24ec4041" /><Relationship Type="http://schemas.openxmlformats.org/officeDocument/2006/relationships/presProps" Target="/ppt/presProps.xml" Id="Rc41edbd938ae4106" /><Relationship Type="http://schemas.openxmlformats.org/officeDocument/2006/relationships/tableStyles" Target="/ppt/tableStyles.xml" Id="Rbf69069e46ee48d4" /><Relationship Type="http://schemas.openxmlformats.org/officeDocument/2006/relationships/slide" Target="/ppt/slides/slide1.xml" Id="Ra8244b044f454036" /><Relationship Type="http://schemas.openxmlformats.org/officeDocument/2006/relationships/slide" Target="/ppt/slides/slide2.xml" Id="R6715ea97fad542f5" /><Relationship Type="http://schemas.openxmlformats.org/officeDocument/2006/relationships/slide" Target="/ppt/slides/slide3.xml" Id="R95508545b0a14d35" /><Relationship Type="http://schemas.openxmlformats.org/officeDocument/2006/relationships/slide" Target="/ppt/slides/slide4.xml" Id="R09cc7e5d58c94c86" /><Relationship Type="http://schemas.openxmlformats.org/officeDocument/2006/relationships/slide" Target="/ppt/slides/slide5.xml" Id="R7966873ccc9f4c50" /><Relationship Type="http://schemas.openxmlformats.org/officeDocument/2006/relationships/slide" Target="/ppt/slides/slide6.xml" Id="R72f8e922e59647c2" /><Relationship Type="http://schemas.openxmlformats.org/officeDocument/2006/relationships/slide" Target="/ppt/slides/slide7.xml" Id="R98e0eb7c7bee4d43" /><Relationship Type="http://schemas.openxmlformats.org/officeDocument/2006/relationships/slide" Target="/ppt/slides/slide8.xml" Id="R9fe33f644a23429a" /><Relationship Type="http://schemas.openxmlformats.org/officeDocument/2006/relationships/slide" Target="/ppt/slides/slide9.xml" Id="Rfbe8ca6b87ca4aaa" /><Relationship Type="http://schemas.openxmlformats.org/officeDocument/2006/relationships/slide" Target="/ppt/slides/slide10.xml" Id="R47d9e1fe75134426" /><Relationship Type="http://schemas.openxmlformats.org/officeDocument/2006/relationships/slide" Target="/ppt/slides/slide11.xml" Id="Rc7efe275676346ca" /><Relationship Type="http://schemas.openxmlformats.org/officeDocument/2006/relationships/slide" Target="/ppt/slides/slide12.xml" Id="R7140442570474f3d" /><Relationship Type="http://schemas.openxmlformats.org/officeDocument/2006/relationships/slide" Target="/ppt/slides/slide13.xml" Id="Re9d5c48e343c4899" /><Relationship Type="http://schemas.openxmlformats.org/officeDocument/2006/relationships/slide" Target="/ppt/slides/slide14.xml" Id="R85cd0d48b34f4d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36b461982a40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1e4786637c4c64" /><Relationship Type="http://schemas.openxmlformats.org/officeDocument/2006/relationships/notesMaster" Target="/ppt/notesMasters/notesMaster1.xml" Id="Rff298d1d87344f8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64b0bec47f4987" /><Relationship Type="http://schemas.openxmlformats.org/officeDocument/2006/relationships/notesMaster" Target="/ppt/notesMasters/notesMaster1.xml" Id="R70c9b527eb3d4c5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f95bd2dd44470d" /><Relationship Type="http://schemas.openxmlformats.org/officeDocument/2006/relationships/notesMaster" Target="/ppt/notesMasters/notesMaster1.xml" Id="Rdd9bc1f8b08d4e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7799a3c1294d7e" /><Relationship Type="http://schemas.openxmlformats.org/officeDocument/2006/relationships/notesMaster" Target="/ppt/notesMasters/notesMaster1.xml" Id="Re132e373a53a42b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a4490670c2942fe" /><Relationship Type="http://schemas.openxmlformats.org/officeDocument/2006/relationships/notesMaster" Target="/ppt/notesMasters/notesMaster1.xml" Id="R4d325601443f41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6bebbe710c14931" /><Relationship Type="http://schemas.openxmlformats.org/officeDocument/2006/relationships/notesMaster" Target="/ppt/notesMasters/notesMaster1.xml" Id="R099af4ddab0b4bd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98a143308de4516" /><Relationship Type="http://schemas.openxmlformats.org/officeDocument/2006/relationships/notesMaster" Target="/ppt/notesMasters/notesMaster1.xml" Id="R9b535d69e0ae464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7c69027b2e9409d" /><Relationship Type="http://schemas.openxmlformats.org/officeDocument/2006/relationships/notesMaster" Target="/ppt/notesMasters/notesMaster1.xml" Id="R34b2996cb6ef45b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657aef5972a4034" /><Relationship Type="http://schemas.openxmlformats.org/officeDocument/2006/relationships/notesMaster" Target="/ppt/notesMasters/notesMaster1.xml" Id="R1aa355dd656749f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0d9d42e4f6d4e38" /><Relationship Type="http://schemas.openxmlformats.org/officeDocument/2006/relationships/notesMaster" Target="/ppt/notesMasters/notesMaster1.xml" Id="Rcfbf1c0b80854c4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2e510c3d54a402e" /><Relationship Type="http://schemas.openxmlformats.org/officeDocument/2006/relationships/notesMaster" Target="/ppt/notesMasters/notesMaster1.xml" Id="R13375286def844c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8f3ae5de6f84c67" /><Relationship Type="http://schemas.openxmlformats.org/officeDocument/2006/relationships/notesMaster" Target="/ppt/notesMasters/notesMaster1.xml" Id="R0483796f8c25470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89642a9976f4313" /><Relationship Type="http://schemas.openxmlformats.org/officeDocument/2006/relationships/notesMaster" Target="/ppt/notesMasters/notesMaster1.xml" Id="Rf40752dd1c85411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6a15c021faa4511" /><Relationship Type="http://schemas.openxmlformats.org/officeDocument/2006/relationships/notesMaster" Target="/ppt/notesMasters/notesMaster1.xml" Id="Rb5c1ff2cfc2745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visual: docs/assets/manual/dashboard-desktop.png. Contenido: README.md y docs/19-estado-del-proyecto.md.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README.md, secciones Principales funcionalidades y Funcionalidades terminadas.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docs/07-arquitectura.md y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docs/07-arquitectura.md, docs/25-organizaciones-y-sincronizacion.md y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docs/32-portales-y-actualizacion-dashboard.md.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README.md, docs/04-requisitos-funcionales.md y docs/10-flujos-del-sistema.md.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visuales: docs/assets/manual/dashboard-desktop.png y docs/assets/manual/integraciones-desktop.png. Fuente funcional: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visual: docs/assets/manual/reportes-desktop.png. Fuente: README.md y docs/09-modulos-del-sistema.md.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docs/15-seguridad.md, docs/26-seguridad-de-cuentas.md y docs/32-portales-y-actualizacion-dashboard.md.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README.md, docs/15-seguridad.md, docs/26-seguridad-de-cuentas.md y docs/29-copias-y-restauracion.md.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README.md, docs/18-manual-de-usuario.md y docs/32-portales-y-actualizacion-dashboard.md.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visual: docs/assets/portal/cliente-desktop.png. Fuente: docs/32-portales-y-actualizacion-dashboard.md.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README.md, docs/19-estado-del-proyecto.md, docs/27-conectores-oficiales.md y docs/32-portales-y-actualizacion-dashboard.md.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docs/19-estado-del-proyecto.md, docs/20-roadmap.md y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5dcca32bff47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cdb439e1834eb4" /><Relationship Type="http://schemas.openxmlformats.org/officeDocument/2006/relationships/slideLayout" Target="/ppt/slideLayouts/slideLayout1.xml" Id="Re7ec85efc02641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ec85efc02641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383f95a70b4a10" /><Relationship Type="http://schemas.openxmlformats.org/officeDocument/2006/relationships/image" Target="/ppt/media/image.png" Id="R6d30b2671f1f46fa" /><Relationship Type="http://schemas.openxmlformats.org/officeDocument/2006/relationships/notesSlide" Target="/ppt/notesSlides/notesSlide1.xml" Id="Rf93b18f07ad74e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0d480cfe964bca" /><Relationship Type="http://schemas.openxmlformats.org/officeDocument/2006/relationships/notesSlide" Target="/ppt/notesSlides/notesSlide2.xml" Id="R1f9ea3f47b8d4a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2a14194ab34bfd" /><Relationship Type="http://schemas.openxmlformats.org/officeDocument/2006/relationships/notesSlide" Target="/ppt/notesSlides/notesSlide3.xml" Id="R53a59cbaf96b41f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7e9c38134a48b8" /><Relationship Type="http://schemas.openxmlformats.org/officeDocument/2006/relationships/notesSlide" Target="/ppt/notesSlides/notesSlide4.xml" Id="R2aac33ac302745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e4ceba3a224beb" /><Relationship Type="http://schemas.openxmlformats.org/officeDocument/2006/relationships/notesSlide" Target="/ppt/notesSlides/notesSlide5.xml" Id="R25c1166a38e841f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6beb9f3961498a" /><Relationship Type="http://schemas.openxmlformats.org/officeDocument/2006/relationships/notesSlide" Target="/ppt/notesSlides/notesSlide6.xml" Id="Rd17cbbfa88b2425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042cc8f7844a61" /><Relationship Type="http://schemas.openxmlformats.org/officeDocument/2006/relationships/image" Target="/ppt/media/image2.png" Id="R9088998727054a19" /><Relationship Type="http://schemas.openxmlformats.org/officeDocument/2006/relationships/image" Target="/ppt/media/image3.png" Id="R70846481849b463b" /><Relationship Type="http://schemas.openxmlformats.org/officeDocument/2006/relationships/notesSlide" Target="/ppt/notesSlides/notesSlide7.xml" Id="Rfa8d1e8c6b9a44b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a9c06c81b44532" /><Relationship Type="http://schemas.openxmlformats.org/officeDocument/2006/relationships/image" Target="/ppt/media/image4.png" Id="R5146ce91ba4441a1" /><Relationship Type="http://schemas.openxmlformats.org/officeDocument/2006/relationships/notesSlide" Target="/ppt/notesSlides/notesSlide8.xml" Id="R16a430382c67494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bf7ff726fa4669" /><Relationship Type="http://schemas.openxmlformats.org/officeDocument/2006/relationships/notesSlide" Target="/ppt/notesSlides/notesSlide9.xml" Id="R0916c215bca9412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c0f5ce9cc547b5" /><Relationship Type="http://schemas.openxmlformats.org/officeDocument/2006/relationships/notesSlide" Target="/ppt/notesSlides/notesSlide10.xml" Id="R4751329702c14c7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eeef25939c4aa7" /><Relationship Type="http://schemas.openxmlformats.org/officeDocument/2006/relationships/notesSlide" Target="/ppt/notesSlides/notesSlide11.xml" Id="R1ec2e3cdaa50441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d3f006b8a04c34" /><Relationship Type="http://schemas.openxmlformats.org/officeDocument/2006/relationships/image" Target="/ppt/media/image5.png" Id="R66be4d15f5034271" /><Relationship Type="http://schemas.openxmlformats.org/officeDocument/2006/relationships/notesSlide" Target="/ppt/notesSlides/notesSlide12.xml" Id="Rb9343ac0b5494f1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2f9d7c195b4b34" /><Relationship Type="http://schemas.openxmlformats.org/officeDocument/2006/relationships/notesSlide" Target="/ppt/notesSlides/notesSlide13.xml" Id="R4f858c4c3e5b40d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4fa23d2bc04bde" /><Relationship Type="http://schemas.openxmlformats.org/officeDocument/2006/relationships/notesSlide" Target="/ppt/notesSlides/notesSlide14.xml" Id="R8a47331b8df74ae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E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30b2671f1f46fa"/>
          <a:srcRect xmlns:a="http://schemas.openxmlformats.org/drawingml/2006/main" l="25815" t="0" r="258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24700" y="685800"/>
            <a:ext cx="4238625" cy="5476875"/>
          </a:xfrm>
          <a:prstGeom xmlns:a="http://schemas.openxmlformats.org/drawingml/2006/main" prst="roundRect">
            <a:avLst>
              <a:gd name="adj" fmla="val 2247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D20626-EA44-4D9F-A51C-FC938EB4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5000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A7B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A7B9"/>
                </a:solidFill>
                <a:latin typeface="Arial"/>
                <a:ea typeface="Arial"/>
                <a:cs typeface="Arial"/>
              </a:rPr>
              <a:t>SOCIAL AUDIT PRO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3741EC-C1B2-4237-BF21-9ED5EAD2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5524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Auditoria y analisis</a:t>
            </a:r>
          </a:p>
          <a:p xmlns:a="http://schemas.openxmlformats.org/drawingml/2006/main">
            <a:pPr>
              <a:defRPr sz="35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 redes sociales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F2BBC7-C6AA-47C9-B3D4-96A3124A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D4E5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4E5EF"/>
                </a:solidFill>
                <a:latin typeface="Arial"/>
                <a:ea typeface="Arial"/>
                <a:cs typeface="Arial"/>
              </a:rPr>
              <a:t>Presentacion de funcionalidades y manual de uso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B35AC9-28A6-42F6-AD96-4E059D37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3D3E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3D3E0"/>
                </a:solidFill>
                <a:latin typeface="Arial"/>
                <a:ea typeface="Arial"/>
                <a:cs typeface="Arial"/>
              </a:rPr>
              <a:t>Integrantes: [completar nombres]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46FEE4-DF19-43C7-A886-466B51645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8BFC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8BFCE"/>
                </a:solidFill>
                <a:latin typeface="Arial"/>
                <a:ea typeface="Arial"/>
                <a:cs typeface="Arial"/>
              </a:rPr>
              <a:t>Octubre de 2026</a:t>
            </a:r>
          </a:p>
        </p:txBody>
      </p:sp>
    </p:spTree>
    <p:extLst>
      <p:ext uri="{BB962C8B-B14F-4D97-AF65-F5344CB8AC3E}">
        <p14:creationId xmlns:p14="http://schemas.microsoft.com/office/powerpoint/2010/main" val="15559684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659B0B-4AFF-47D9-95DE-16CF1A687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10668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2B4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22B42"/>
                </a:solidFill>
                <a:latin typeface="Arial"/>
                <a:ea typeface="Arial"/>
                <a:cs typeface="Arial"/>
              </a:rPr>
              <a:t>Social Audit Pro en una mirada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4FBB61-D626-4FCC-B917-7C0A7604B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57275"/>
            <a:ext cx="1038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708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C7083"/>
                </a:solidFill>
                <a:latin typeface="Arial"/>
                <a:ea typeface="Arial"/>
                <a:cs typeface="Arial"/>
              </a:rPr>
              <a:t>Una plataforma para revisar cuentas sociales, entender el rendimiento y preparar decisiones.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17C03C-7B32-49F8-B5ED-E6A0429E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2524125" cy="3714750"/>
          </a:xfrm>
          <a:prstGeom xmlns:a="http://schemas.openxmlformats.org/drawingml/2006/main" prst="roundRect">
            <a:avLst>
              <a:gd name="adj" fmla="val 5283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0">
            <a:solidFill>
              <a:srgbClr val="F3F6F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F9C38B-9487-44F5-8CC1-FD6D226D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70485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74B7"/>
          </a:solidFill>
          <a:ln xmlns:a="http://schemas.openxmlformats.org/drawingml/2006/main" w="0">
            <a:solidFill>
              <a:srgbClr val="1174B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CE5038-987F-4719-9A85-886B1746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70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0FB590-F299-40D9-BE17-507BF5197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18764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74B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74B7"/>
                </a:solidFill>
                <a:latin typeface="Arial"/>
                <a:ea typeface="Arial"/>
                <a:cs typeface="Arial"/>
              </a:rPr>
              <a:t>Panel ejecutivo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FAE746-B4C1-49BC-9951-D4215947A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9550"/>
            <a:ext cx="18764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C70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7083"/>
                </a:solidFill>
                <a:latin typeface="Arial"/>
                <a:ea typeface="Arial"/>
                <a:cs typeface="Arial"/>
              </a:rPr>
              <a:t>Reune KPIs, salud de cuenta, tendencias y prioridades de accion.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815C7E-ECDD-45A6-8C28-577929F3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095500"/>
            <a:ext cx="2524125" cy="3714750"/>
          </a:xfrm>
          <a:prstGeom xmlns:a="http://schemas.openxmlformats.org/drawingml/2006/main" prst="roundRect">
            <a:avLst>
              <a:gd name="adj" fmla="val 5283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0">
            <a:solidFill>
              <a:srgbClr val="F3F6F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0DD70F-0A18-4A15-9C60-0D5A09B92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400300"/>
            <a:ext cx="70485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A7B9"/>
          </a:solidFill>
          <a:ln xmlns:a="http://schemas.openxmlformats.org/drawingml/2006/main" w="0">
            <a:solidFill>
              <a:srgbClr val="17A7B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52FC74-03C3-4A0D-BC8C-5873F439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552700"/>
            <a:ext cx="70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06A83D-34AE-4896-808B-B1E57494B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333750"/>
            <a:ext cx="18764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A7B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A7B9"/>
                </a:solidFill>
                <a:latin typeface="Arial"/>
                <a:ea typeface="Arial"/>
                <a:cs typeface="Arial"/>
              </a:rPr>
              <a:t>Auditoria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E411AD-AAE3-4C8A-B5A6-A4645C2E2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019550"/>
            <a:ext cx="18764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C70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7083"/>
                </a:solidFill>
                <a:latin typeface="Arial"/>
                <a:ea typeface="Arial"/>
                <a:cs typeface="Arial"/>
              </a:rPr>
              <a:t>Evalua dimensiones de rendimiento con reglas y explicaciones visibles.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D06786-1D85-4781-9DA8-7B98A0370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95500"/>
            <a:ext cx="2524125" cy="3714750"/>
          </a:xfrm>
          <a:prstGeom xmlns:a="http://schemas.openxmlformats.org/drawingml/2006/main" prst="roundRect">
            <a:avLst>
              <a:gd name="adj" fmla="val 5283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0">
            <a:solidFill>
              <a:srgbClr val="F3F6F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A9D4E6-919F-46B2-934C-3A5C32E7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00300"/>
            <a:ext cx="70485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A064"/>
          </a:solidFill>
          <a:ln xmlns:a="http://schemas.openxmlformats.org/drawingml/2006/main" w="0">
            <a:solidFill>
              <a:srgbClr val="1FA06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A56B13-E633-4150-99A9-AB80D6F5C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52700"/>
            <a:ext cx="70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PDF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411257-D6A2-4525-89A0-3B62D217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33750"/>
            <a:ext cx="18764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FA06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FA064"/>
                </a:solidFill>
                <a:latin typeface="Arial"/>
                <a:ea typeface="Arial"/>
                <a:cs typeface="Arial"/>
              </a:rPr>
              <a:t>Reportes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3EEE42-A970-43CD-91E4-9E09380F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19550"/>
            <a:ext cx="18764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C70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7083"/>
                </a:solidFill>
                <a:latin typeface="Arial"/>
                <a:ea typeface="Arial"/>
                <a:cs typeface="Arial"/>
              </a:rPr>
              <a:t>Conserva reportes y genera un PDF ejecutivo descargable.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9F400E-53AE-424A-A5C0-06EC73B5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095500"/>
            <a:ext cx="2524125" cy="3714750"/>
          </a:xfrm>
          <a:prstGeom xmlns:a="http://schemas.openxmlformats.org/drawingml/2006/main" prst="roundRect">
            <a:avLst>
              <a:gd name="adj" fmla="val 5283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0">
            <a:solidFill>
              <a:srgbClr val="F3F6F9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380A6D-3127-42F8-9163-F900F25C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400300"/>
            <a:ext cx="70485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8932"/>
          </a:solidFill>
          <a:ln xmlns:a="http://schemas.openxmlformats.org/drawingml/2006/main" w="0">
            <a:solidFill>
              <a:srgbClr val="F18932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2F4FFD-C440-4ACE-BE35-BF59CCD0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552700"/>
            <a:ext cx="70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72B27F-F181-4C50-982C-23087107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333750"/>
            <a:ext cx="18764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1893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18932"/>
                </a:solidFill>
                <a:latin typeface="Arial"/>
                <a:ea typeface="Arial"/>
                <a:cs typeface="Arial"/>
              </a:rPr>
              <a:t>Administracion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55A02C-4776-4268-82E8-41042008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019550"/>
            <a:ext cx="18764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C70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7083"/>
                </a:solidFill>
                <a:latin typeface="Arial"/>
                <a:ea typeface="Arial"/>
                <a:cs typeface="Arial"/>
              </a:rPr>
              <a:t>Gestiona usuarios, roles, organizaciones e integraciones.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786FBD-22D8-4836-A7CC-39061B363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504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C708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83"/>
                </a:solidFill>
                <a:latin typeface="Arial"/>
                <a:ea typeface="Arial"/>
                <a:cs typeface="Arial"/>
              </a:rPr>
              <a:t>Social Audit Pro - Presentacion y manual de uso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B4BEA1-5978-481F-B5A5-988C2E4B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77000"/>
            <a:ext cx="809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C708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8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596999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2E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607FB1-2F28-4E0C-B751-3DD26223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142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A7B9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7A7B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EAE049-9BB3-4D65-9952-E055F70C3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857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Como funciona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D95566-7CBC-473A-8E50-DE85249E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847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C4D6E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4D6E6"/>
                </a:solidFill>
                <a:latin typeface="Arial"/>
                <a:ea typeface="Arial"/>
                <a:cs typeface="Arial"/>
              </a:rPr>
              <a:t>De las cuentas sociales a decisiones con contexto</a:t>
            </a:r>
          </a:p>
        </p:txBody>
      </p:sp>
    </p:spTree>
    <p:extLst>
      <p:ext uri="{BB962C8B-B14F-4D97-AF65-F5344CB8AC3E}">
        <p14:creationId xmlns:p14="http://schemas.microsoft.com/office/powerpoint/2010/main" val="5724036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57048A-2ED3-41EB-B33E-FE1DF6BF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10668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2B4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22B42"/>
                </a:solidFill>
                <a:latin typeface="Arial"/>
                <a:ea typeface="Arial"/>
                <a:cs typeface="Arial"/>
              </a:rPr>
              <a:t>El recorrido de la informacion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C99B42-D551-48FA-98A9-A26FCB8D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2209800" cy="2305050"/>
          </a:xfrm>
          <a:prstGeom xmlns:a="http://schemas.openxmlformats.org/drawingml/2006/main" prst="roundRect">
            <a:avLst>
              <a:gd name="adj" fmla="val 60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7E0E8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F81C9C-BA7C-4D09-9FDE-F2CCBC345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70485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74B7"/>
          </a:solidFill>
          <a:ln xmlns:a="http://schemas.openxmlformats.org/drawingml/2006/main" w="0">
            <a:solidFill>
              <a:srgbClr val="1174B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DFB25B-5099-441D-A72E-CEFA461B7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70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98D6CB-3EFF-46B7-8116-2603A145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14700"/>
            <a:ext cx="1666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2B4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2B42"/>
                </a:solidFill>
                <a:latin typeface="Arial"/>
                <a:ea typeface="Arial"/>
                <a:cs typeface="Arial"/>
              </a:rPr>
              <a:t>Administrador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11C048-8E27-4990-ACB6-46BFA6B3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57625"/>
            <a:ext cx="163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708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7083"/>
                </a:solidFill>
                <a:latin typeface="Arial"/>
                <a:ea typeface="Arial"/>
                <a:cs typeface="Arial"/>
              </a:rPr>
              <a:t>Registra usuarios y elige la organizacion activa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BE3715-F910-4EF5-A7F7-72C34F5D0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333750"/>
            <a:ext cx="4762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5C708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112A62-8C44-4674-85B2-3AAB39A3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190750"/>
            <a:ext cx="2209800" cy="2305050"/>
          </a:xfrm>
          <a:prstGeom xmlns:a="http://schemas.openxmlformats.org/drawingml/2006/main" prst="roundRect">
            <a:avLst>
              <a:gd name="adj" fmla="val 60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7E0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10CCB4-E442-4EAF-AC8D-F1CDE61A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19350"/>
            <a:ext cx="70485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A7B9"/>
          </a:solidFill>
          <a:ln xmlns:a="http://schemas.openxmlformats.org/drawingml/2006/main" w="0">
            <a:solidFill>
              <a:srgbClr val="17A7B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763E4E-6641-4DDE-A58C-0863C99E6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71750"/>
            <a:ext cx="70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ABF712-E2AF-4CEF-92BB-E288290BF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314700"/>
            <a:ext cx="1666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2B4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2B42"/>
                </a:solidFill>
                <a:latin typeface="Arial"/>
                <a:ea typeface="Arial"/>
                <a:cs typeface="Arial"/>
              </a:rPr>
              <a:t>Integraciones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D623B1-B7CC-426B-8007-C0957835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857625"/>
            <a:ext cx="163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708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7083"/>
                </a:solidFill>
                <a:latin typeface="Arial"/>
                <a:ea typeface="Arial"/>
                <a:cs typeface="Arial"/>
              </a:rPr>
              <a:t>Autoriza una cuenta de red social cuando existen credenciales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91CD10-7034-4DF5-8A74-D9451ABE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333750"/>
            <a:ext cx="4762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5C708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E40160-8B1F-4B32-9C2E-3C2D0CA6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90750"/>
            <a:ext cx="2209800" cy="2305050"/>
          </a:xfrm>
          <a:prstGeom xmlns:a="http://schemas.openxmlformats.org/drawingml/2006/main" prst="roundRect">
            <a:avLst>
              <a:gd name="adj" fmla="val 60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7E0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F4C02D-C44A-498F-92C8-EA7F0E7D1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19350"/>
            <a:ext cx="70485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E48"/>
          </a:solidFill>
          <a:ln xmlns:a="http://schemas.openxmlformats.org/drawingml/2006/main" w="0">
            <a:solidFill>
              <a:srgbClr val="102E4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5C82C4-592D-4FC3-8FA8-F7EDDB438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71750"/>
            <a:ext cx="70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4C569B-E5D1-4AF5-92B8-795E2AF6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14700"/>
            <a:ext cx="1666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2B4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2B42"/>
                </a:solidFill>
                <a:latin typeface="Arial"/>
                <a:ea typeface="Arial"/>
                <a:cs typeface="Arial"/>
              </a:rPr>
              <a:t>API y analitica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A6342B-4420-4220-83F8-1F2F1BCC9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57625"/>
            <a:ext cx="163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708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7083"/>
                </a:solidFill>
                <a:latin typeface="Arial"/>
                <a:ea typeface="Arial"/>
                <a:cs typeface="Arial"/>
              </a:rPr>
              <a:t>Normaliza datos, calcula indicadores y detecta hallazgos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666874-B609-4177-9700-91CAF5ACC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33750"/>
            <a:ext cx="4762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5C708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DAC0FD-A04F-429B-9AF6-AF7E3BCAD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2209800" cy="2305050"/>
          </a:xfrm>
          <a:prstGeom xmlns:a="http://schemas.openxmlformats.org/drawingml/2006/main" prst="roundRect">
            <a:avLst>
              <a:gd name="adj" fmla="val 60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7E0E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03CC71-B6EB-4BC5-BA39-5A0B822DA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19350"/>
            <a:ext cx="70485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A064"/>
          </a:solidFill>
          <a:ln xmlns:a="http://schemas.openxmlformats.org/drawingml/2006/main" w="0">
            <a:solidFill>
              <a:srgbClr val="1FA064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B6FA3C-360E-4491-A3D2-2F7AF1FB0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71750"/>
            <a:ext cx="70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03402C-3747-45C1-9614-9C18D7F3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14700"/>
            <a:ext cx="1666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2B4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2B42"/>
                </a:solidFill>
                <a:latin typeface="Arial"/>
                <a:ea typeface="Arial"/>
                <a:cs typeface="Arial"/>
              </a:rPr>
              <a:t>Dashboard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512129-3F24-495C-B568-3B62D929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57625"/>
            <a:ext cx="163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708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7083"/>
                </a:solidFill>
                <a:latin typeface="Arial"/>
                <a:ea typeface="Arial"/>
                <a:cs typeface="Arial"/>
              </a:rPr>
              <a:t>Muestra auditorias, comparativas y recomendaciones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9C42CB-5DDE-42AB-849B-81881B91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95875"/>
            <a:ext cx="6477000" cy="981075"/>
          </a:xfrm>
          <a:prstGeom xmlns:a="http://schemas.openxmlformats.org/drawingml/2006/main" prst="roundRect">
            <a:avLst>
              <a:gd name="adj" fmla="val 13592"/>
            </a:avLst>
          </a:prstGeom>
          <a:solidFill xmlns:a="http://schemas.openxmlformats.org/drawingml/2006/main">
            <a:srgbClr val="FFF0E4"/>
          </a:solidFill>
          <a:ln xmlns:a="http://schemas.openxmlformats.org/drawingml/2006/main" w="0">
            <a:solidFill>
              <a:srgbClr val="FFF0E4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AD29CC-08EA-4607-9490-53ED884A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52768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189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18932"/>
                </a:solidFill>
                <a:latin typeface="Arial"/>
                <a:ea typeface="Arial"/>
                <a:cs typeface="Arial"/>
              </a:rPr>
              <a:t>Reportes PDF e historicos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EDAB10-AA35-42A3-956D-97AF3263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5629275"/>
            <a:ext cx="571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2B4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22B42"/>
                </a:solidFill>
                <a:latin typeface="Arial"/>
                <a:ea typeface="Arial"/>
                <a:cs typeface="Arial"/>
              </a:rPr>
              <a:t>El sistema conserva reportes, publicaciones, actividad e historicos dentro de la organizacion correspondiente.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11EB89-602E-4BB0-A158-4E2C3B10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504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C708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83"/>
                </a:solidFill>
                <a:latin typeface="Arial"/>
                <a:ea typeface="Arial"/>
                <a:cs typeface="Arial"/>
              </a:rPr>
              <a:t>Social Audit Pro - Presentacion y manual de uso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0EABDD-D2AC-4EF5-915D-FC3A465A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77000"/>
            <a:ext cx="809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C708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8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833742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78E485-BB90-48D5-87F1-E58E5B162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10668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2B4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22B42"/>
                </a:solidFill>
                <a:latin typeface="Arial"/>
                <a:ea typeface="Arial"/>
                <a:cs typeface="Arial"/>
              </a:rPr>
              <a:t>Actualizacion al ingresar al dashboard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33485D-C580-407F-B94E-2B92A1544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57275"/>
            <a:ext cx="1038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708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C7083"/>
                </a:solidFill>
                <a:latin typeface="Arial"/>
                <a:ea typeface="Arial"/>
                <a:cs typeface="Arial"/>
              </a:rPr>
              <a:t>El sistema mantiene los datos disponibles mientras consulta las conexiones configuradas.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51AA9E-FAFE-4B9B-81FF-83CCF728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70485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74B7"/>
          </a:solidFill>
          <a:ln xmlns:a="http://schemas.openxmlformats.org/drawingml/2006/main" w="0">
            <a:solidFill>
              <a:srgbClr val="1174B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67830D-0D1D-4B9F-AD76-BEF77396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95525"/>
            <a:ext cx="70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E49713-C225-4B54-9F18-4C6E89BE1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90850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2B4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2B42"/>
                </a:solidFill>
                <a:latin typeface="Arial"/>
                <a:ea typeface="Arial"/>
                <a:cs typeface="Arial"/>
              </a:rPr>
              <a:t>Inicia sesion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D291CA-7F77-4C38-ADE5-A3857A98A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67100"/>
            <a:ext cx="1762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708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7083"/>
                </a:solidFill>
                <a:latin typeface="Arial"/>
                <a:ea typeface="Arial"/>
                <a:cs typeface="Arial"/>
              </a:rPr>
              <a:t>La persona entra con su usuario y el sistema identifica su rol y organizacion.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AF3506-FC79-45D1-B603-54BEE428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143125"/>
            <a:ext cx="70485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74B7"/>
          </a:solidFill>
          <a:ln xmlns:a="http://schemas.openxmlformats.org/drawingml/2006/main" w="0">
            <a:solidFill>
              <a:srgbClr val="1174B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75DEF2-B2CC-43FE-B9A9-8AC39387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295525"/>
            <a:ext cx="70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EC2BA3-F03F-4816-9395-0D27E714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990850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2B4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2B42"/>
                </a:solidFill>
                <a:latin typeface="Arial"/>
                <a:ea typeface="Arial"/>
                <a:cs typeface="Arial"/>
              </a:rPr>
              <a:t>Abre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7FBA98-8468-42CD-82AA-A7CBEB93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467100"/>
            <a:ext cx="1762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708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7083"/>
                </a:solidFill>
                <a:latin typeface="Arial"/>
                <a:ea typeface="Arial"/>
                <a:cs typeface="Arial"/>
              </a:rPr>
              <a:t>El navegador solicita la actualizacion con sesion y proteccion CSRF.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94FFDC-EEF0-4943-A453-34908B01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143125"/>
            <a:ext cx="70485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74B7"/>
          </a:solidFill>
          <a:ln xmlns:a="http://schemas.openxmlformats.org/drawingml/2006/main" w="0">
            <a:solidFill>
              <a:srgbClr val="1174B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7AF612-14C1-40C8-BC08-E19B965D4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295525"/>
            <a:ext cx="70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394B2A-7263-4F9B-950B-425788BF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990850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2B4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2B42"/>
                </a:solidFill>
                <a:latin typeface="Arial"/>
                <a:ea typeface="Arial"/>
                <a:cs typeface="Arial"/>
              </a:rPr>
              <a:t>Frecuencia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A9D9FE-F3B7-4875-A3A3-F04C72012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467100"/>
            <a:ext cx="1762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708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7083"/>
                </a:solidFill>
                <a:latin typeface="Arial"/>
                <a:ea typeface="Arial"/>
                <a:cs typeface="Arial"/>
              </a:rPr>
              <a:t>SQLite evita consultas repetidas durante el intervalo minimo de quince minutos.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487AAC-AED1-4452-928C-470E1E7B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143125"/>
            <a:ext cx="70485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74B7"/>
          </a:solidFill>
          <a:ln xmlns:a="http://schemas.openxmlformats.org/drawingml/2006/main" w="0">
            <a:solidFill>
              <a:srgbClr val="1174B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45A946-5001-4B0A-83BB-F8798E73F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295525"/>
            <a:ext cx="70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6BACC1-27C2-41C9-9450-1D750679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990850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2B4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2B42"/>
                </a:solidFill>
                <a:latin typeface="Arial"/>
                <a:ea typeface="Arial"/>
                <a:cs typeface="Arial"/>
              </a:rPr>
              <a:t>Guarda datos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FA7759-D445-44C4-A091-F965D4087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467100"/>
            <a:ext cx="1762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708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7083"/>
                </a:solidFill>
                <a:latin typeface="Arial"/>
                <a:ea typeface="Arial"/>
                <a:cs typeface="Arial"/>
              </a:rPr>
              <a:t>La sincronizacion valida permisos antes de persistir cuentas, publicaciones e historicos.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A45C75-83EF-46A2-B25E-5560C897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143125"/>
            <a:ext cx="70485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74B7"/>
          </a:solidFill>
          <a:ln xmlns:a="http://schemas.openxmlformats.org/drawingml/2006/main" w="0">
            <a:solidFill>
              <a:srgbClr val="1174B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D75E8D-D184-4D64-96B3-D572F217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295525"/>
            <a:ext cx="70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F5EAF3-EFE8-4941-A252-C98645573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9908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2B4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2B42"/>
                </a:solidFill>
                <a:latin typeface="Arial"/>
                <a:ea typeface="Arial"/>
                <a:cs typeface="Arial"/>
              </a:rPr>
              <a:t>Muestra resultados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4B95D8-6C8F-48CD-8897-DAD2D383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467100"/>
            <a:ext cx="1619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708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7083"/>
                </a:solidFill>
                <a:latin typeface="Arial"/>
                <a:ea typeface="Arial"/>
                <a:cs typeface="Arial"/>
              </a:rPr>
              <a:t>La vista conserva datos previos si un proveedor no responde a tiempo.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5EC4E6-0627-4B22-869E-5AD503E8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81625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C70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7083"/>
                </a:solidFill>
                <a:latin typeface="Arial"/>
                <a:ea typeface="Arial"/>
                <a:cs typeface="Arial"/>
              </a:rPr>
              <a:t>Solo funciona con backend encendido, conexiones autorizadas y credenciales validas. GitHub Pages no ejecuta esta sincronizacion.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CF7803-F836-43D7-BCF4-0D368018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504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C708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83"/>
                </a:solidFill>
                <a:latin typeface="Arial"/>
                <a:ea typeface="Arial"/>
                <a:cs typeface="Arial"/>
              </a:rPr>
              <a:t>Social Audit Pro - Presentacion y manual de uso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587515-DCB4-4B50-8C65-024F90A2C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77000"/>
            <a:ext cx="809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C708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83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8488372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6D15C6-A23B-400A-B1CF-598A3B46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10668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2B4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22B42"/>
                </a:solidFill>
                <a:latin typeface="Arial"/>
                <a:ea typeface="Arial"/>
                <a:cs typeface="Arial"/>
              </a:rPr>
              <a:t>Como se genera el analisis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102CF0-E677-4EB6-8955-B60905FA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57275"/>
            <a:ext cx="1038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708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C7083"/>
                </a:solidFill>
                <a:latin typeface="Arial"/>
                <a:ea typeface="Arial"/>
                <a:cs typeface="Arial"/>
              </a:rPr>
              <a:t>Cada vista parte de datos disponibles y explica las reglas utilizadas.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7A0864-D318-419A-B89E-8BA3CE4D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47875"/>
            <a:ext cx="70485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74B7"/>
          </a:solidFill>
          <a:ln xmlns:a="http://schemas.openxmlformats.org/drawingml/2006/main" w="0">
            <a:solidFill>
              <a:srgbClr val="1174B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32E1F7-7905-4553-9065-6A55D49FA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200275"/>
            <a:ext cx="70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36B1EE-E21C-41C3-B063-75A34ACC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8956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2B4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2B42"/>
                </a:solidFill>
                <a:latin typeface="Arial"/>
                <a:ea typeface="Arial"/>
                <a:cs typeface="Arial"/>
              </a:rPr>
              <a:t>Metricas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E80917-A45B-4A84-BB8E-C8ED9EC7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371850"/>
            <a:ext cx="180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708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7083"/>
                </a:solidFill>
                <a:latin typeface="Arial"/>
                <a:ea typeface="Arial"/>
                <a:cs typeface="Arial"/>
              </a:rPr>
              <a:t>Recibe seguidores, alcance, interacciones, publicaciones y otros datos autorizados.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32F51E-9438-4070-BADB-0D5DA2AC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047875"/>
            <a:ext cx="70485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74B7"/>
          </a:solidFill>
          <a:ln xmlns:a="http://schemas.openxmlformats.org/drawingml/2006/main" w="0">
            <a:solidFill>
              <a:srgbClr val="1174B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089905-611E-404F-8DE8-5F1CDAB3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200275"/>
            <a:ext cx="70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72C36B-C712-48BF-96B5-52545FEBB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8956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2B4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2B42"/>
                </a:solidFill>
                <a:latin typeface="Arial"/>
                <a:ea typeface="Arial"/>
                <a:cs typeface="Arial"/>
              </a:rPr>
              <a:t>Formulas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44A004-BEEA-420A-B342-7B0BFB6D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371850"/>
            <a:ext cx="180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708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7083"/>
                </a:solidFill>
                <a:latin typeface="Arial"/>
                <a:ea typeface="Arial"/>
                <a:cs typeface="Arial"/>
              </a:rPr>
              <a:t>Calcula indicadores como engagement y variaciones frente al periodo anterior.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E41BB2-1736-401D-95A9-2D644D1F6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047875"/>
            <a:ext cx="70485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74B7"/>
          </a:solidFill>
          <a:ln xmlns:a="http://schemas.openxmlformats.org/drawingml/2006/main" w="0">
            <a:solidFill>
              <a:srgbClr val="1174B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2EF3B2-9FD1-4645-B06E-296DDBCEF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200275"/>
            <a:ext cx="70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2364FA-970F-414A-A72F-EAF0774A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8956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2B4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2B42"/>
                </a:solidFill>
                <a:latin typeface="Arial"/>
                <a:ea typeface="Arial"/>
                <a:cs typeface="Arial"/>
              </a:rPr>
              <a:t>Auditoria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3F0E85-F28F-4F69-9DFC-98412CB7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371850"/>
            <a:ext cx="180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708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7083"/>
                </a:solidFill>
                <a:latin typeface="Arial"/>
                <a:ea typeface="Arial"/>
                <a:cs typeface="Arial"/>
              </a:rPr>
              <a:t>Clasifica el resultado por presencia, actividad, contenido, crecimiento y alcance.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DC318A-EDA1-4107-9624-86779A9C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047875"/>
            <a:ext cx="70485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74B7"/>
          </a:solidFill>
          <a:ln xmlns:a="http://schemas.openxmlformats.org/drawingml/2006/main" w="0">
            <a:solidFill>
              <a:srgbClr val="1174B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849DEA-B110-4B2E-848F-9E1917A6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200275"/>
            <a:ext cx="70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C7EB7F-47AC-4458-AFCD-CA6498A3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8956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2B4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2B42"/>
                </a:solidFill>
                <a:latin typeface="Arial"/>
                <a:ea typeface="Arial"/>
                <a:cs typeface="Arial"/>
              </a:rPr>
              <a:t>Hallazgos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B6C483-696B-4A80-B3FA-609BDEA2C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371850"/>
            <a:ext cx="180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708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7083"/>
                </a:solidFill>
                <a:latin typeface="Arial"/>
                <a:ea typeface="Arial"/>
                <a:cs typeface="Arial"/>
              </a:rPr>
              <a:t>Identifica tendencias, fortalezas, problemas y anomalias que merecen revision.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E32F38-EF91-4EB3-A5B2-1443D7507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047875"/>
            <a:ext cx="70485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74B7"/>
          </a:solidFill>
          <a:ln xmlns:a="http://schemas.openxmlformats.org/drawingml/2006/main" w="0">
            <a:solidFill>
              <a:srgbClr val="1174B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405BA3-EDD9-4984-9B04-0D1B803A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200275"/>
            <a:ext cx="70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DDCA07-D8B4-45BB-B056-4FCBA897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8956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2B4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2B42"/>
                </a:solidFill>
                <a:latin typeface="Arial"/>
                <a:ea typeface="Arial"/>
                <a:cs typeface="Arial"/>
              </a:rPr>
              <a:t>Acciones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367FEB-05A0-4BFF-B247-74FCC0EB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3371850"/>
            <a:ext cx="180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708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7083"/>
                </a:solidFill>
                <a:latin typeface="Arial"/>
                <a:ea typeface="Arial"/>
                <a:cs typeface="Arial"/>
              </a:rPr>
              <a:t>Propone acciones con el dato observado y el impacto esperado.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2FC5C1-82D2-4506-8D50-7C422BF3C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81575"/>
            <a:ext cx="10620375" cy="857250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DCEFF7"/>
          </a:solidFill>
          <a:ln xmlns:a="http://schemas.openxmlformats.org/drawingml/2006/main" w="0">
            <a:solidFill>
              <a:srgbClr val="DCEFF7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B6A830-7862-4B87-AB9D-19E2EB4F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191125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74B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74B7"/>
                </a:solidFill>
                <a:latin typeface="Arial"/>
                <a:ea typeface="Arial"/>
                <a:cs typeface="Arial"/>
              </a:rPr>
              <a:t>Principio del sistema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315DCD-B240-46B9-ACB1-C625D5AE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191125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22B4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22B42"/>
                </a:solidFill>
                <a:latin typeface="Arial"/>
                <a:ea typeface="Arial"/>
                <a:cs typeface="Arial"/>
              </a:rPr>
              <a:t>No inventa metricas ausentes: la informacion depende de los permisos y de la disponibilidad de cada API.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703615-C19F-4D3E-8941-BCB6FC746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504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C708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83"/>
                </a:solidFill>
                <a:latin typeface="Arial"/>
                <a:ea typeface="Arial"/>
                <a:cs typeface="Arial"/>
              </a:rPr>
              <a:t>Social Audit Pro - Presentacion y manual de uso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B5FB16-A5DD-470D-8363-35B7F152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77000"/>
            <a:ext cx="809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C708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83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7137027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0EE62D-35AF-43D0-9699-911641487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10668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2B4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22B42"/>
                </a:solidFill>
                <a:latin typeface="Arial"/>
                <a:ea typeface="Arial"/>
                <a:cs typeface="Arial"/>
              </a:rPr>
              <a:t>Las vistas para analizar y administrar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CC407B-BB1F-4F4D-B00E-A8407CB9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57275"/>
            <a:ext cx="1038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708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C7083"/>
                </a:solidFill>
                <a:latin typeface="Arial"/>
                <a:ea typeface="Arial"/>
                <a:cs typeface="Arial"/>
              </a:rPr>
              <a:t>La navegacion separa los temas para evitar concentrar todas las metricas en una sola pantalla.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88998727054a19"/>
          <a:srcRect xmlns:a="http://schemas.openxmlformats.org/drawingml/2006/main" l="1780" t="0" r="178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857375"/>
            <a:ext cx="4953000" cy="3209925"/>
          </a:xfrm>
          <a:prstGeom xmlns:a="http://schemas.openxmlformats.org/drawingml/2006/main" prst="roundRect">
            <a:avLst>
              <a:gd name="adj" fmla="val 2967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BF934E-E5BD-4C09-AF35-C44AE96D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863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2B4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2B42"/>
                </a:solidFill>
                <a:latin typeface="Arial"/>
                <a:ea typeface="Arial"/>
                <a:cs typeface="Arial"/>
              </a:rPr>
              <a:t>Analisis diario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E81325-119D-4DE0-BC78-D9B4B43B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38800"/>
            <a:ext cx="4953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708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7083"/>
                </a:solidFill>
                <a:latin typeface="Arial"/>
                <a:ea typeface="Arial"/>
                <a:cs typeface="Arial"/>
              </a:rPr>
              <a:t>Dashboard, auditoria, metricas, contenido, audiencia, comparativas, insights y recomendaciones.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846481849b463b"/>
          <a:srcRect xmlns:a="http://schemas.openxmlformats.org/drawingml/2006/main" l="1780" t="0" r="178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857375"/>
            <a:ext cx="4953000" cy="3209925"/>
          </a:xfrm>
          <a:prstGeom xmlns:a="http://schemas.openxmlformats.org/drawingml/2006/main" prst="roundRect">
            <a:avLst>
              <a:gd name="adj" fmla="val 296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BEFED6-3DF2-4CFE-8FCE-B24D3D39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863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2B4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2B42"/>
                </a:solidFill>
                <a:latin typeface="Arial"/>
                <a:ea typeface="Arial"/>
                <a:cs typeface="Arial"/>
              </a:rPr>
              <a:t>Gestion del sistema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DD02BB-668D-4084-B2BE-F6402B2D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638800"/>
            <a:ext cx="4762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708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7083"/>
                </a:solidFill>
                <a:latin typeface="Arial"/>
                <a:ea typeface="Arial"/>
                <a:cs typeface="Arial"/>
              </a:rPr>
              <a:t>Reportes, integraciones, usuarios, organizaciones y configuracion de seguridad.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5924D0-D71D-48EE-9C59-E92096A8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504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C708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83"/>
                </a:solidFill>
                <a:latin typeface="Arial"/>
                <a:ea typeface="Arial"/>
                <a:cs typeface="Arial"/>
              </a:rPr>
              <a:t>Social Audit Pro - Presentacion y manual de uso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35DF83-94CD-456A-8FBE-55CA563D7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77000"/>
            <a:ext cx="809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C708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83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7706753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92FF26-36A0-42F3-A268-8109B620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10668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2B4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22B42"/>
                </a:solidFill>
                <a:latin typeface="Arial"/>
                <a:ea typeface="Arial"/>
                <a:cs typeface="Arial"/>
              </a:rPr>
              <a:t>Reportes para compartir resultados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46ce91ba4441a1"/>
          <a:srcRect xmlns:a="http://schemas.openxmlformats.org/drawingml/2006/main" l="8882" t="0" r="888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1714500"/>
            <a:ext cx="4762500" cy="3619500"/>
          </a:xfrm>
          <a:prstGeom xmlns:a="http://schemas.openxmlformats.org/drawingml/2006/main" prst="roundRect">
            <a:avLst>
              <a:gd name="adj" fmla="val 2632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F8C8D0-3253-4CFE-86D5-9BF6695F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4787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74B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74B7"/>
                </a:solidFill>
                <a:latin typeface="Arial"/>
                <a:ea typeface="Arial"/>
                <a:cs typeface="Arial"/>
              </a:rPr>
              <a:t>Que incluye un reporte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F2A0B8-847A-405B-9CF9-82E82E1F4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24125"/>
            <a:ext cx="5000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C70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C7083"/>
                </a:solidFill>
                <a:latin typeface="Arial"/>
                <a:ea typeface="Arial"/>
                <a:cs typeface="Arial"/>
              </a:rPr>
              <a:t>El sistema guarda los reportes por organizacion y genera un PDF ejecutivo para descargar.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CDEC1F-73B1-4F63-AC53-944C02C2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14750"/>
            <a:ext cx="476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2B4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2B42"/>
                </a:solidFill>
                <a:latin typeface="Arial"/>
                <a:ea typeface="Arial"/>
                <a:cs typeface="Arial"/>
              </a:rPr>
              <a:t>1  Elegir periodo y cuentas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EC39E3-1E84-4A8F-9627-56545178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71950"/>
            <a:ext cx="476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2B4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2B42"/>
                </a:solidFill>
                <a:latin typeface="Arial"/>
                <a:ea typeface="Arial"/>
                <a:cs typeface="Arial"/>
              </a:rPr>
              <a:t>2  Revisar indicadores y hallazgos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8792C2-B05A-4418-859E-75710CFF6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29150"/>
            <a:ext cx="476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2B4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2B42"/>
                </a:solidFill>
                <a:latin typeface="Arial"/>
                <a:ea typeface="Arial"/>
                <a:cs typeface="Arial"/>
              </a:rPr>
              <a:t>3  Generar el reporte PDF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DB2B76-C6B1-4FB6-95EC-2C0FDD0F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76900"/>
            <a:ext cx="5238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708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7083"/>
                </a:solidFill>
                <a:latin typeface="Arial"/>
                <a:ea typeface="Arial"/>
                <a:cs typeface="Arial"/>
              </a:rPr>
              <a:t>La exportacion se ejecuta en la version local con el backend disponible.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9C346A-BF0A-4C5E-83BD-29049F1A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504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C708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83"/>
                </a:solidFill>
                <a:latin typeface="Arial"/>
                <a:ea typeface="Arial"/>
                <a:cs typeface="Arial"/>
              </a:rPr>
              <a:t>Social Audit Pro - Presentacion y manual de uso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049D3A-8A49-4F47-9883-0893FEE6B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77000"/>
            <a:ext cx="809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C708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83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602350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2E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F87665-1205-47EF-9009-4137BA819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142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A7B9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7A7B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CC4E90-1CE5-441D-A817-55D7C46B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857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Seguridad y uso por perfiles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8F1121-E8B5-40FC-9D9F-118CDB0FC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C4D6E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4D6E6"/>
                </a:solidFill>
                <a:latin typeface="Arial"/>
                <a:ea typeface="Arial"/>
                <a:cs typeface="Arial"/>
              </a:rPr>
              <a:t>El sistema separa el trabajo del administrador y la consulta del cliente</a:t>
            </a:r>
          </a:p>
        </p:txBody>
      </p:sp>
    </p:spTree>
    <p:extLst>
      <p:ext uri="{BB962C8B-B14F-4D97-AF65-F5344CB8AC3E}">
        <p14:creationId xmlns:p14="http://schemas.microsoft.com/office/powerpoint/2010/main" val="1118613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D5CB72-CF7C-4E93-8C4E-129B49CCB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10668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2B4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22B42"/>
                </a:solidFill>
                <a:latin typeface="Arial"/>
                <a:ea typeface="Arial"/>
                <a:cs typeface="Arial"/>
              </a:rPr>
              <a:t>Proteccion de cuentas y datos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6D03E8-7478-49A6-BB68-549CDA37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5000625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0">
            <a:solidFill>
              <a:srgbClr val="F3F6F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B6FA75-2915-4E27-B451-8DBCEB9E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286000"/>
            <a:ext cx="70485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74B7"/>
          </a:solidFill>
          <a:ln xmlns:a="http://schemas.openxmlformats.org/drawingml/2006/main" w="0">
            <a:solidFill>
              <a:srgbClr val="1174B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1B57C4-81BE-4999-AEB0-0F21E7A1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38400"/>
            <a:ext cx="70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23055B-DC72-45B0-AB5B-8BCCB697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219325"/>
            <a:ext cx="333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74B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74B7"/>
                </a:solidFill>
                <a:latin typeface="Arial"/>
                <a:ea typeface="Arial"/>
                <a:cs typeface="Arial"/>
              </a:rPr>
              <a:t>Acceso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6951E5-ADA7-4CC5-A4D8-44F3ADBA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638425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C70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7083"/>
                </a:solidFill>
                <a:latin typeface="Arial"/>
                <a:ea typeface="Arial"/>
                <a:cs typeface="Arial"/>
              </a:rPr>
              <a:t>Registro inicial, inicio y cierre de sesion, verificacion de correo y recuperacion de contrasena.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0C737C-A128-4F4B-A9DA-320ADDE5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905000"/>
            <a:ext cx="5000625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0">
            <a:solidFill>
              <a:srgbClr val="F3F6F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8B4013-5C27-46CD-98A1-C1698302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86000"/>
            <a:ext cx="70485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A7B9"/>
          </a:solidFill>
          <a:ln xmlns:a="http://schemas.openxmlformats.org/drawingml/2006/main" w="0">
            <a:solidFill>
              <a:srgbClr val="17A7B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1A1D40-5870-4F9C-82E9-A1B972A9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38400"/>
            <a:ext cx="70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42D17C-6697-47C4-8E4F-DF76290D8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19325"/>
            <a:ext cx="333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A7B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A7B9"/>
                </a:solidFill>
                <a:latin typeface="Arial"/>
                <a:ea typeface="Arial"/>
                <a:cs typeface="Arial"/>
              </a:rPr>
              <a:t>Segundo factor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F75944-0053-469A-ABB2-CEC2C274D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638425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C70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7083"/>
                </a:solidFill>
                <a:latin typeface="Arial"/>
                <a:ea typeface="Arial"/>
                <a:cs typeface="Arial"/>
              </a:rPr>
              <a:t>MFA TOTP con codigos de recuperacion para reforzar el acceso cuando se habilita.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A91790-D839-4E90-9C58-1C3D4144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5000625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0">
            <a:solidFill>
              <a:srgbClr val="F3F6F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854CAC-0542-40B2-ADE5-22BB2B92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286250"/>
            <a:ext cx="70485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A064"/>
          </a:solidFill>
          <a:ln xmlns:a="http://schemas.openxmlformats.org/drawingml/2006/main" w="0">
            <a:solidFill>
              <a:srgbClr val="1FA06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F28423-69A7-4C0F-AF0E-FDFD538D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438650"/>
            <a:ext cx="70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F89A2C-B02B-4B40-BE64-C1A15E3A0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19575"/>
            <a:ext cx="333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FA06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FA064"/>
                </a:solidFill>
                <a:latin typeface="Arial"/>
                <a:ea typeface="Arial"/>
                <a:cs typeface="Arial"/>
              </a:rPr>
              <a:t>Organizaciones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B235DC-6212-4167-8217-49EFED54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638675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C70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7083"/>
                </a:solidFill>
                <a:latin typeface="Arial"/>
                <a:ea typeface="Arial"/>
                <a:cs typeface="Arial"/>
              </a:rPr>
              <a:t>Cada empresa ve las cuentas, historicos, reportes e integraciones que le corresponden.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2689A9-9F70-4DA4-9CED-5E7AC76F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905250"/>
            <a:ext cx="5000625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0">
            <a:solidFill>
              <a:srgbClr val="F3F6F9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D281FE-66C8-4F8B-8E96-2DC8FA4A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86250"/>
            <a:ext cx="70485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8932"/>
          </a:solidFill>
          <a:ln xmlns:a="http://schemas.openxmlformats.org/drawingml/2006/main" w="0">
            <a:solidFill>
              <a:srgbClr val="F1893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69BD06-43DD-4B0F-B714-8B987CB63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38650"/>
            <a:ext cx="70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2A81DA-4704-4AEC-A0D5-A2270D45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219575"/>
            <a:ext cx="333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1893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18932"/>
                </a:solidFill>
                <a:latin typeface="Arial"/>
                <a:ea typeface="Arial"/>
                <a:cs typeface="Arial"/>
              </a:rPr>
              <a:t>Secretos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C226A9-9D60-4BF5-A9CD-E117A133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638675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C70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7083"/>
                </a:solidFill>
                <a:latin typeface="Arial"/>
                <a:ea typeface="Arial"/>
                <a:cs typeface="Arial"/>
              </a:rPr>
              <a:t>Las configuraciones sensibles y tokens OAuth se cifran antes de persistirse.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5486C4-2460-406C-8ED6-3A94A33D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3407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C70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7083"/>
                </a:solidFill>
                <a:latin typeface="Arial"/>
                <a:ea typeface="Arial"/>
                <a:cs typeface="Arial"/>
              </a:rPr>
              <a:t>Las claves, tokens y datos privados no se incluyen en GitHub ni en la demostracion publica.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A9C010-26AF-4DDE-A788-A1669F80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504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C708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83"/>
                </a:solidFill>
                <a:latin typeface="Arial"/>
                <a:ea typeface="Arial"/>
                <a:cs typeface="Arial"/>
              </a:rPr>
              <a:t>Social Audit Pro - Presentacion y manual de uso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F8DE1E-4D09-4B91-A0EF-31BEA1CB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77000"/>
            <a:ext cx="809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C708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8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478805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EE63F3-D8C2-4A85-99DD-9EF93E11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10668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2B4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22B42"/>
                </a:solidFill>
                <a:latin typeface="Arial"/>
                <a:ea typeface="Arial"/>
                <a:cs typeface="Arial"/>
              </a:rPr>
              <a:t>Manual del administrador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F6D6CB-8DEA-43CF-92B7-D73872E3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00250"/>
            <a:ext cx="70485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74B7"/>
          </a:solidFill>
          <a:ln xmlns:a="http://schemas.openxmlformats.org/drawingml/2006/main" w="0">
            <a:solidFill>
              <a:srgbClr val="1174B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7DA3B6-FE62-40C6-A430-9410C53B7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52650"/>
            <a:ext cx="70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B69435-9435-45E1-9CCF-2279C525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00375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2B4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2B42"/>
                </a:solidFill>
                <a:latin typeface="Arial"/>
                <a:ea typeface="Arial"/>
                <a:cs typeface="Arial"/>
              </a:rPr>
              <a:t>Crea la cuenta inicial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438CAE-DADB-45D2-814B-C36915D6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14750"/>
            <a:ext cx="1809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708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7083"/>
                </a:solidFill>
                <a:latin typeface="Arial"/>
                <a:ea typeface="Arial"/>
                <a:cs typeface="Arial"/>
              </a:rPr>
              <a:t>Abre #/cuenta en una base nueva.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B9C682-5C34-4C19-BFFD-D6E4E6C1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00250"/>
            <a:ext cx="70485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74B7"/>
          </a:solidFill>
          <a:ln xmlns:a="http://schemas.openxmlformats.org/drawingml/2006/main" w="0">
            <a:solidFill>
              <a:srgbClr val="1174B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D53266-D4D6-4AF5-A210-34FEF099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52650"/>
            <a:ext cx="70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4545CE-A714-4056-99EB-A15DEAD0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00375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2B4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2B42"/>
                </a:solidFill>
                <a:latin typeface="Arial"/>
                <a:ea typeface="Arial"/>
                <a:cs typeface="Arial"/>
              </a:rPr>
              <a:t>Crea la organizacion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A63E15-3FA3-49EC-8ADD-BF0C5A3C3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714750"/>
            <a:ext cx="1809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708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7083"/>
                </a:solidFill>
                <a:latin typeface="Arial"/>
                <a:ea typeface="Arial"/>
                <a:cs typeface="Arial"/>
              </a:rPr>
              <a:t>Define la empresa que administrara las cuentas.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101239-0BE5-4C04-86B2-F84E776D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000250"/>
            <a:ext cx="70485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74B7"/>
          </a:solidFill>
          <a:ln xmlns:a="http://schemas.openxmlformats.org/drawingml/2006/main" w="0">
            <a:solidFill>
              <a:srgbClr val="1174B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02D507-0BE4-44A1-95E2-78F0C6933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152650"/>
            <a:ext cx="70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8D1AEF-51F9-44B7-A077-E08B1A2C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00375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2B4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2B42"/>
                </a:solidFill>
                <a:latin typeface="Arial"/>
                <a:ea typeface="Arial"/>
                <a:cs typeface="Arial"/>
              </a:rPr>
              <a:t>Agrega usuarios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4BBDD7-B126-43DC-ACC0-27412DD7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714750"/>
            <a:ext cx="1809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708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7083"/>
                </a:solidFill>
                <a:latin typeface="Arial"/>
                <a:ea typeface="Arial"/>
                <a:cs typeface="Arial"/>
              </a:rPr>
              <a:t>Asigna roles de administrador, analista o cliente.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A85544-8901-464A-8693-3A683858A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00250"/>
            <a:ext cx="70485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74B7"/>
          </a:solidFill>
          <a:ln xmlns:a="http://schemas.openxmlformats.org/drawingml/2006/main" w="0">
            <a:solidFill>
              <a:srgbClr val="1174B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16FCCB-1B66-4DDE-82E4-EA50E02B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52650"/>
            <a:ext cx="70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033FE3-7DF0-45A1-8F54-B46FED7D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000375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2B4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2B42"/>
                </a:solidFill>
                <a:latin typeface="Arial"/>
                <a:ea typeface="Arial"/>
                <a:cs typeface="Arial"/>
              </a:rPr>
              <a:t>Configura conexiones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07EB64-F6A6-4856-96C9-552499CF3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714750"/>
            <a:ext cx="1809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708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7083"/>
                </a:solidFill>
                <a:latin typeface="Arial"/>
                <a:ea typeface="Arial"/>
                <a:cs typeface="Arial"/>
              </a:rPr>
              <a:t>Registra solo integraciones con credenciales aprobadas.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CB510A-39C4-4254-8CD8-92CCB1F88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000250"/>
            <a:ext cx="70485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74B7"/>
          </a:solidFill>
          <a:ln xmlns:a="http://schemas.openxmlformats.org/drawingml/2006/main" w="0">
            <a:solidFill>
              <a:srgbClr val="1174B7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F71BE8-3630-473C-AA50-F116748B5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152650"/>
            <a:ext cx="70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93B03F-D1DE-4618-B21E-05279108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000375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2B4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2B42"/>
                </a:solidFill>
                <a:latin typeface="Arial"/>
                <a:ea typeface="Arial"/>
                <a:cs typeface="Arial"/>
              </a:rPr>
              <a:t>Revisa y reporta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188D8A-C709-4BBD-83B5-BDA74ADF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714750"/>
            <a:ext cx="1809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708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7083"/>
                </a:solidFill>
                <a:latin typeface="Arial"/>
                <a:ea typeface="Arial"/>
                <a:cs typeface="Arial"/>
              </a:rPr>
              <a:t>Entra al dashboard, analiza hallazgos y descarga el PDF.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7372F0-0865-47CF-B6DF-56425DA4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810875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FF0E4"/>
          </a:solidFill>
          <a:ln xmlns:a="http://schemas.openxmlformats.org/drawingml/2006/main" w="0">
            <a:solidFill>
              <a:srgbClr val="FFF0E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49C62E-47EB-4E7E-B170-41F1C6C4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3877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1893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18932"/>
                </a:solidFill>
                <a:latin typeface="Arial"/>
                <a:ea typeface="Arial"/>
                <a:cs typeface="Arial"/>
              </a:rPr>
              <a:t>Importante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B663C8-3544-4B9F-AAF2-84635D11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5429250"/>
            <a:ext cx="8334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22B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22B42"/>
                </a:solidFill>
                <a:latin typeface="Arial"/>
                <a:ea typeface="Arial"/>
                <a:cs typeface="Arial"/>
              </a:rPr>
              <a:t>Una organizacion debe contener una sola empresa cliente para mantener el aislamiento de datos.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06D8E5-449F-4A86-A9F7-63CDA9BF9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504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C708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83"/>
                </a:solidFill>
                <a:latin typeface="Arial"/>
                <a:ea typeface="Arial"/>
                <a:cs typeface="Arial"/>
              </a:rPr>
              <a:t>Social Audit Pro - Presentacion y manual de uso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4B467B-78EA-46E0-9728-60095F19E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77000"/>
            <a:ext cx="809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C708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8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211691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CB3D6C-48BD-4B7E-9C22-BE18F1E1E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10668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2B4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22B42"/>
                </a:solidFill>
                <a:latin typeface="Arial"/>
                <a:ea typeface="Arial"/>
                <a:cs typeface="Arial"/>
              </a:rPr>
              <a:t>Manual del cliente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8DF425-BA25-455B-AFFE-0EAE1CFD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57275"/>
            <a:ext cx="1038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708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C7083"/>
                </a:solidFill>
                <a:latin typeface="Arial"/>
                <a:ea typeface="Arial"/>
                <a:cs typeface="Arial"/>
              </a:rPr>
              <a:t>El cliente consulta el impacto de las cuentas que el administrador asigna a su empresa.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be4d15f5034271"/>
          <a:srcRect xmlns:a="http://schemas.openxmlformats.org/drawingml/2006/main" l="0" t="2044" r="0" b="20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1752600"/>
            <a:ext cx="5219700" cy="3476625"/>
          </a:xfrm>
          <a:prstGeom xmlns:a="http://schemas.openxmlformats.org/drawingml/2006/main" prst="roundRect">
            <a:avLst>
              <a:gd name="adj" fmla="val 2740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E04CD6-E8B6-4A64-AFAA-1998651F0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457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2B4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2B42"/>
                </a:solidFill>
                <a:latin typeface="Arial"/>
                <a:ea typeface="Arial"/>
                <a:cs typeface="Arial"/>
              </a:rPr>
              <a:t>1  Ingresa por #/cuenta/client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5E8150-F860-4FE8-9B3D-7DA6A5B6D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4762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2B4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2B42"/>
                </a:solidFill>
                <a:latin typeface="Arial"/>
                <a:ea typeface="Arial"/>
                <a:cs typeface="Arial"/>
              </a:rPr>
              <a:t>2  Inicia sesion con el usuario creado por el administrador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BCC998-AAFC-48E8-8BE0-1B4E14C7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4762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2B4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2B42"/>
                </a:solidFill>
                <a:latin typeface="Arial"/>
                <a:ea typeface="Arial"/>
                <a:cs typeface="Arial"/>
              </a:rPr>
              <a:t>3  Consulta comunidad, publicaciones, visualizaciones, likes y tabla de impacto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2282BC-9203-484F-89EF-E9BCA683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708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7083"/>
                </a:solidFill>
                <a:latin typeface="Arial"/>
                <a:ea typeface="Arial"/>
                <a:cs typeface="Arial"/>
              </a:rPr>
              <a:t>Si no hay conexiones o datos para su empresa, el portal no muestra ejemplos simulados.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61C066-992C-4BBD-AA56-6F49B06E4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504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C708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83"/>
                </a:solidFill>
                <a:latin typeface="Arial"/>
                <a:ea typeface="Arial"/>
                <a:cs typeface="Arial"/>
              </a:rPr>
              <a:t>Social Audit Pro - Presentacion y manual de uso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AEAF11-2D50-4416-8DC9-DD8E2E02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77000"/>
            <a:ext cx="809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C708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8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085369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3D417F-02F0-41C6-9C20-4602C25FD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10668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2B4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22B42"/>
                </a:solidFill>
                <a:latin typeface="Arial"/>
                <a:ea typeface="Arial"/>
                <a:cs typeface="Arial"/>
              </a:rPr>
              <a:t>Integraciones y limites actuales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D1DC7F-CE34-4494-A39F-10C43EE3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2095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FA06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FA064"/>
                </a:solidFill>
                <a:latin typeface="Arial"/>
                <a:ea typeface="Arial"/>
                <a:cs typeface="Arial"/>
              </a:rPr>
              <a:t>YouTube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BD5AB1-657D-4CDD-8DDE-819DFC2AE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47925"/>
            <a:ext cx="39528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708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C7083"/>
                </a:solidFill>
                <a:latin typeface="Arial"/>
                <a:ea typeface="Arial"/>
                <a:cs typeface="Arial"/>
              </a:rPr>
              <a:t>Es el conector OAuth mas maduro. Requiere credenciales propias de Google para activarse.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8808FF-A302-4A85-91C0-74055C88B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019300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74B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74B7"/>
                </a:solidFill>
                <a:latin typeface="Arial"/>
                <a:ea typeface="Arial"/>
                <a:cs typeface="Arial"/>
              </a:rPr>
              <a:t>Facebook, Instagram, TikTok, LinkedIn y 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A18C80-DAB6-4401-A7C8-61A4ED31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447925"/>
            <a:ext cx="5238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708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C7083"/>
                </a:solidFill>
                <a:latin typeface="Arial"/>
                <a:ea typeface="Arial"/>
                <a:cs typeface="Arial"/>
              </a:rPr>
              <a:t>Los adaptadores existen, pero necesitan aplicaciones registradas, permisos aprobados y validacion con cuentas reales.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ED08B6-98C4-4C3D-9AF6-AE14AE031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952625"/>
            <a:ext cx="0" cy="18002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7E0E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D95C8D-FE69-46F0-A500-FAEFEF2E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10050"/>
            <a:ext cx="10096500" cy="981075"/>
          </a:xfrm>
          <a:prstGeom xmlns:a="http://schemas.openxmlformats.org/drawingml/2006/main" prst="roundRect">
            <a:avLst>
              <a:gd name="adj" fmla="val 13592"/>
            </a:avLst>
          </a:prstGeom>
          <a:solidFill xmlns:a="http://schemas.openxmlformats.org/drawingml/2006/main">
            <a:srgbClr val="FFF0E4"/>
          </a:solidFill>
          <a:ln xmlns:a="http://schemas.openxmlformats.org/drawingml/2006/main" w="0">
            <a:solidFill>
              <a:srgbClr val="FFF0E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3C1E42-9CD1-4467-A7B2-05E589A2A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57700"/>
            <a:ext cx="9001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189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18932"/>
                </a:solidFill>
                <a:latin typeface="Arial"/>
                <a:ea typeface="Arial"/>
                <a:cs typeface="Arial"/>
              </a:rPr>
              <a:t>X permanece desactivado mientras no se aprueben sus costes.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93B3B1-9A1D-4762-A612-6A1373C1C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86425"/>
            <a:ext cx="10287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C70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7083"/>
                </a:solidFill>
                <a:latin typeface="Arial"/>
                <a:ea typeface="Arial"/>
                <a:cs typeface="Arial"/>
              </a:rPr>
              <a:t>GitHub Pages solo publica una demostracion estatica. No ejecuta login, base de datos, correo ni sincronizaciones.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7CE418-2D2B-498F-90DE-F1515536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504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C708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83"/>
                </a:solidFill>
                <a:latin typeface="Arial"/>
                <a:ea typeface="Arial"/>
                <a:cs typeface="Arial"/>
              </a:rPr>
              <a:t>Social Audit Pro - Presentacion y manual de uso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27F5E9-3318-4C08-B63E-217DB8FB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77000"/>
            <a:ext cx="809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C708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08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11165872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02E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449F4D-1FBB-46CE-B5F8-0C13E8B52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3429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A7B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A7B9"/>
                </a:solidFill>
                <a:latin typeface="Arial"/>
                <a:ea typeface="Arial"/>
                <a:cs typeface="Arial"/>
              </a:rPr>
              <a:t>SIGUIENTES PASOS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DC7AF9-7B38-49CB-9599-23F18E8D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66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Estado del proyecto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9D0384-C55E-4502-A70A-5167A05C2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14575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4E5E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4E5EF"/>
                </a:solidFill>
                <a:latin typeface="Arial"/>
                <a:ea typeface="Arial"/>
                <a:cs typeface="Arial"/>
              </a:rPr>
              <a:t>El MVP funciona de forma local. Estos pasos permiten llevarlo a pruebas reales y luego a produccion.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BF1064-A25F-4774-BEC7-5584BA0A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76625"/>
            <a:ext cx="904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 Obtener credenciales y permisos de la primera red social adicional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28D26E-A6C4-42E9-A40A-C8D05227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19550"/>
            <a:ext cx="904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  Validar sincronizacion y metricas con cuentas reales de prueba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296549-5014-4CD8-A133-178DBA32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62475"/>
            <a:ext cx="9429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 Elegir alojamiento, PostgreSQL, correo empresarial y gestion de secretos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0AB9E3-D585-44CD-B3DC-DBDADF39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628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9D2D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9D2DF"/>
                </a:solidFill>
                <a:latin typeface="Arial"/>
                <a:ea typeface="Arial"/>
                <a:cs typeface="Arial"/>
              </a:rPr>
              <a:t>Repositorio: github.com/TheKnight2122/social-audit-pro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0F33F5-7C1E-42D3-BD07-86C8A52E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62675"/>
            <a:ext cx="628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9D2D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9D2DF"/>
                </a:solidFill>
                <a:latin typeface="Arial"/>
                <a:ea typeface="Arial"/>
                <a:cs typeface="Arial"/>
              </a:rPr>
              <a:t>Demostracion: theknight2122.github.io/social-audit-pro</a:t>
            </a:r>
          </a:p>
        </p:txBody>
      </p:sp>
    </p:spTree>
    <p:extLst>
      <p:ext uri="{BB962C8B-B14F-4D97-AF65-F5344CB8AC3E}">
        <p14:creationId xmlns:p14="http://schemas.microsoft.com/office/powerpoint/2010/main" val="1428838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2026-10-06T15:44:17.6550000Z</dcterms:created>
  <dcterms:modified xsi:type="dcterms:W3CDTF">2026-10-06T15:44:17.6550000Z</dcterms:modified>
</coreProperties>
</file>