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2cc7c9771244e1" /><Relationship Type="http://schemas.openxmlformats.org/officeDocument/2006/relationships/extended-properties" Target="/docProps/app.xml" Id="R6f42018394a54ea4" /><Relationship Type="http://schemas.openxmlformats.org/officeDocument/2006/relationships/officeDocument" Target="/ppt/presentation.xml" Id="R7025d9e4058245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bd4b8b73e84179"/>
  </p:sldMasterIdLst>
  <p:notesMasterIdLst>
    <p:notesMasterId xmlns:r="http://schemas.openxmlformats.org/officeDocument/2006/relationships" r:id="R53aa58a7ba8b472f"/>
  </p:notesMasterIdLst>
  <p:sldIdLst>
    <p:sldId xmlns:r="http://schemas.openxmlformats.org/officeDocument/2006/relationships" id="256" r:id="Rd5f945e285f74974"/>
    <p:sldId xmlns:r="http://schemas.openxmlformats.org/officeDocument/2006/relationships" id="257" r:id="Rdddef7d278894244"/>
    <p:sldId xmlns:r="http://schemas.openxmlformats.org/officeDocument/2006/relationships" id="258" r:id="R3de40139cf9b4394"/>
    <p:sldId xmlns:r="http://schemas.openxmlformats.org/officeDocument/2006/relationships" id="259" r:id="Rf241be67b1544f02"/>
    <p:sldId xmlns:r="http://schemas.openxmlformats.org/officeDocument/2006/relationships" id="260" r:id="R5f0dea9a51164c5d"/>
    <p:sldId xmlns:r="http://schemas.openxmlformats.org/officeDocument/2006/relationships" id="261" r:id="R56ccbdd381904f0b"/>
    <p:sldId xmlns:r="http://schemas.openxmlformats.org/officeDocument/2006/relationships" id="262" r:id="R2d852115af1849f8"/>
    <p:sldId xmlns:r="http://schemas.openxmlformats.org/officeDocument/2006/relationships" id="263" r:id="Rf4052d8a90194543"/>
    <p:sldId xmlns:r="http://schemas.openxmlformats.org/officeDocument/2006/relationships" id="264" r:id="R04f3781f6df84d16"/>
    <p:sldId xmlns:r="http://schemas.openxmlformats.org/officeDocument/2006/relationships" id="265" r:id="R15da8c35eeb74a28"/>
    <p:sldId xmlns:r="http://schemas.openxmlformats.org/officeDocument/2006/relationships" id="266" r:id="R319aa4900c5d435c"/>
    <p:sldId xmlns:r="http://schemas.openxmlformats.org/officeDocument/2006/relationships" id="267" r:id="R344d3cc8c4c34745"/>
    <p:sldId xmlns:r="http://schemas.openxmlformats.org/officeDocument/2006/relationships" id="268" r:id="Rd980c0709e0d403d"/>
    <p:sldId xmlns:r="http://schemas.openxmlformats.org/officeDocument/2006/relationships" id="269" r:id="R9375f3bfa0694e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53b1efd5f0490c" /><Relationship Type="http://schemas.openxmlformats.org/officeDocument/2006/relationships/slideMaster" Target="/ppt/slideMasters/slideMaster1.xml" Id="R61bd4b8b73e84179" /><Relationship Type="http://schemas.openxmlformats.org/officeDocument/2006/relationships/notesMaster" Target="/ppt/notesMasters/notesMaster1.xml" Id="R53aa58a7ba8b472f" /><Relationship Type="http://schemas.openxmlformats.org/officeDocument/2006/relationships/presProps" Target="/ppt/presProps.xml" Id="R37b2f0e4b74f4084" /><Relationship Type="http://schemas.openxmlformats.org/officeDocument/2006/relationships/tableStyles" Target="/ppt/tableStyles.xml" Id="R4abf490e0c9d475a" /><Relationship Type="http://schemas.openxmlformats.org/officeDocument/2006/relationships/slide" Target="/ppt/slides/slide1.xml" Id="Rd5f945e285f74974" /><Relationship Type="http://schemas.openxmlformats.org/officeDocument/2006/relationships/slide" Target="/ppt/slides/slide2.xml" Id="Rdddef7d278894244" /><Relationship Type="http://schemas.openxmlformats.org/officeDocument/2006/relationships/slide" Target="/ppt/slides/slide3.xml" Id="R3de40139cf9b4394" /><Relationship Type="http://schemas.openxmlformats.org/officeDocument/2006/relationships/slide" Target="/ppt/slides/slide4.xml" Id="Rf241be67b1544f02" /><Relationship Type="http://schemas.openxmlformats.org/officeDocument/2006/relationships/slide" Target="/ppt/slides/slide5.xml" Id="R5f0dea9a51164c5d" /><Relationship Type="http://schemas.openxmlformats.org/officeDocument/2006/relationships/slide" Target="/ppt/slides/slide6.xml" Id="R56ccbdd381904f0b" /><Relationship Type="http://schemas.openxmlformats.org/officeDocument/2006/relationships/slide" Target="/ppt/slides/slide7.xml" Id="R2d852115af1849f8" /><Relationship Type="http://schemas.openxmlformats.org/officeDocument/2006/relationships/slide" Target="/ppt/slides/slide8.xml" Id="Rf4052d8a90194543" /><Relationship Type="http://schemas.openxmlformats.org/officeDocument/2006/relationships/slide" Target="/ppt/slides/slide9.xml" Id="R04f3781f6df84d16" /><Relationship Type="http://schemas.openxmlformats.org/officeDocument/2006/relationships/slide" Target="/ppt/slides/slide10.xml" Id="R15da8c35eeb74a28" /><Relationship Type="http://schemas.openxmlformats.org/officeDocument/2006/relationships/slide" Target="/ppt/slides/slide11.xml" Id="R319aa4900c5d435c" /><Relationship Type="http://schemas.openxmlformats.org/officeDocument/2006/relationships/slide" Target="/ppt/slides/slide12.xml" Id="R344d3cc8c4c34745" /><Relationship Type="http://schemas.openxmlformats.org/officeDocument/2006/relationships/slide" Target="/ppt/slides/slide13.xml" Id="Rd980c0709e0d403d" /><Relationship Type="http://schemas.openxmlformats.org/officeDocument/2006/relationships/slide" Target="/ppt/slides/slide14.xml" Id="R9375f3bfa0694e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89c39509bb42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ae72f73aec44e7" /><Relationship Type="http://schemas.openxmlformats.org/officeDocument/2006/relationships/notesMaster" Target="/ppt/notesMasters/notesMaster1.xml" Id="Rf9f1c33e0bbc43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912bac3ba949b1" /><Relationship Type="http://schemas.openxmlformats.org/officeDocument/2006/relationships/notesMaster" Target="/ppt/notesMasters/notesMaster1.xml" Id="R963f0254e87c42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1600eabf0249ff" /><Relationship Type="http://schemas.openxmlformats.org/officeDocument/2006/relationships/notesMaster" Target="/ppt/notesMasters/notesMaster1.xml" Id="Rf56cc2fd998544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9a9a6d82954c57" /><Relationship Type="http://schemas.openxmlformats.org/officeDocument/2006/relationships/notesMaster" Target="/ppt/notesMasters/notesMaster1.xml" Id="R1e7faebae19c46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cc1b0503ba4cfd" /><Relationship Type="http://schemas.openxmlformats.org/officeDocument/2006/relationships/notesMaster" Target="/ppt/notesMasters/notesMaster1.xml" Id="R1ef5bee838e643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ec3b1893bc47ee" /><Relationship Type="http://schemas.openxmlformats.org/officeDocument/2006/relationships/notesMaster" Target="/ppt/notesMasters/notesMaster1.xml" Id="R5c3f5e44e7dc41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6cd583980594106" /><Relationship Type="http://schemas.openxmlformats.org/officeDocument/2006/relationships/notesMaster" Target="/ppt/notesMasters/notesMaster1.xml" Id="R7f89446e4e8f4f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422ee53f9347f2" /><Relationship Type="http://schemas.openxmlformats.org/officeDocument/2006/relationships/notesMaster" Target="/ppt/notesMasters/notesMaster1.xml" Id="R2eeac1501b254a2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5a37200300b45f1" /><Relationship Type="http://schemas.openxmlformats.org/officeDocument/2006/relationships/notesMaster" Target="/ppt/notesMasters/notesMaster1.xml" Id="Rb9d15f50a45f47b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444860017043f8" /><Relationship Type="http://schemas.openxmlformats.org/officeDocument/2006/relationships/notesMaster" Target="/ppt/notesMasters/notesMaster1.xml" Id="R678f66d67dd044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65090496264b12" /><Relationship Type="http://schemas.openxmlformats.org/officeDocument/2006/relationships/notesMaster" Target="/ppt/notesMasters/notesMaster1.xml" Id="R625d964ef91042d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2df825b8a045ed" /><Relationship Type="http://schemas.openxmlformats.org/officeDocument/2006/relationships/notesMaster" Target="/ppt/notesMasters/notesMaster1.xml" Id="R3f4917c2c049420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374e754eb84ec2" /><Relationship Type="http://schemas.openxmlformats.org/officeDocument/2006/relationships/notesMaster" Target="/ppt/notesMasters/notesMaster1.xml" Id="R8077f7ba99be44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4b827f3493f4481" /><Relationship Type="http://schemas.openxmlformats.org/officeDocument/2006/relationships/notesMaster" Target="/ppt/notesMasters/notesMaster1.xml" Id="Rc4e8fe3877354e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visual: docs/assets/manual/dashboard-desktop.png. Contenido: README.md y docs/19-estado-del-proyecto.md.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secciones Principales funcionalidades y Funcionalidades terminadas.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docs/07-arquitectura.md y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docs/07-arquitectura.md, docs/25-organizaciones-y-sincronizacion.md y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docs/32-portales-y-actualizacion-dashboard.md.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docs/04-requisitos-funcionales.md y docs/10-flujos-del-sistema.md.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visuales: docs/assets/manual/dashboard-desktop.png y docs/assets/manual/integraciones-desktop.png. Fuente funcional: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visual: docs/assets/manual/reportes-desktop.png. Fuente: README.md y docs/09-modulos-del-sistema.md.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docs/15-seguridad.md, docs/26-seguridad-de-cuentas.md y docs/32-portales-y-actualizacion-dashboard.md.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docs/15-seguridad.md, docs/26-seguridad-de-cuentas.md y docs/29-copias-y-restauracion.md.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docs/18-manual-de-usuario.md y docs/32-portales-y-actualizacion-dashboard.md.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visual: docs/assets/portal/cliente-desktop.png. Fuente: docs/32-portales-y-actualizacion-dashboard.md.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docs/19-estado-del-proyecto.md, docs/27-conectores-oficiales.md y docs/32-portales-y-actualizacion-dashboard.md.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docs/19-estado-del-proyecto.md, docs/20-roadmap.md y 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787f1a4e341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e027519c77407c" /><Relationship Type="http://schemas.openxmlformats.org/officeDocument/2006/relationships/slideLayout" Target="/ppt/slideLayouts/slideLayout1.xml" Id="R56bbf8536a734d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6bbf8536a734d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361afd8b3742e7" /><Relationship Type="http://schemas.openxmlformats.org/officeDocument/2006/relationships/image" Target="/ppt/media/image.png" Id="R8874b1c008d14e93" /><Relationship Type="http://schemas.openxmlformats.org/officeDocument/2006/relationships/notesSlide" Target="/ppt/notesSlides/notesSlide1.xml" Id="Rdfccf22313564b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c648c72d647da" /><Relationship Type="http://schemas.openxmlformats.org/officeDocument/2006/relationships/notesSlide" Target="/ppt/notesSlides/notesSlide2.xml" Id="Rf72104f041924b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42673fd6f541e6" /><Relationship Type="http://schemas.openxmlformats.org/officeDocument/2006/relationships/notesSlide" Target="/ppt/notesSlides/notesSlide3.xml" Id="Rf57ee1a550c149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d298ee57f40f6" /><Relationship Type="http://schemas.openxmlformats.org/officeDocument/2006/relationships/notesSlide" Target="/ppt/notesSlides/notesSlide4.xml" Id="R26b9978a465f47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0882abb9f4e47" /><Relationship Type="http://schemas.openxmlformats.org/officeDocument/2006/relationships/notesSlide" Target="/ppt/notesSlides/notesSlide5.xml" Id="Rfc782107326544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58c99ddd44938" /><Relationship Type="http://schemas.openxmlformats.org/officeDocument/2006/relationships/notesSlide" Target="/ppt/notesSlides/notesSlide6.xml" Id="R3494c78f402c4ab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e9477c75c24668" /><Relationship Type="http://schemas.openxmlformats.org/officeDocument/2006/relationships/image" Target="/ppt/media/image2.png" Id="Rdce0b508c4c44a82" /><Relationship Type="http://schemas.openxmlformats.org/officeDocument/2006/relationships/image" Target="/ppt/media/image3.png" Id="Ra184d1331c484bbd" /><Relationship Type="http://schemas.openxmlformats.org/officeDocument/2006/relationships/notesSlide" Target="/ppt/notesSlides/notesSlide7.xml" Id="R5ad039c8f6864b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cafc9045ff4956" /><Relationship Type="http://schemas.openxmlformats.org/officeDocument/2006/relationships/image" Target="/ppt/media/image4.png" Id="R6b636ee63df04cb8" /><Relationship Type="http://schemas.openxmlformats.org/officeDocument/2006/relationships/notesSlide" Target="/ppt/notesSlides/notesSlide8.xml" Id="R9f72ebd3412e425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b3c53207f04f6c" /><Relationship Type="http://schemas.openxmlformats.org/officeDocument/2006/relationships/notesSlide" Target="/ppt/notesSlides/notesSlide9.xml" Id="Ra4a89148b4f246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fb71ae9324401" /><Relationship Type="http://schemas.openxmlformats.org/officeDocument/2006/relationships/notesSlide" Target="/ppt/notesSlides/notesSlide10.xml" Id="Rf0da9f23724e4d7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4a200e2694820" /><Relationship Type="http://schemas.openxmlformats.org/officeDocument/2006/relationships/notesSlide" Target="/ppt/notesSlides/notesSlide11.xml" Id="R5e60360a52f645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0657381a9242c6" /><Relationship Type="http://schemas.openxmlformats.org/officeDocument/2006/relationships/image" Target="/ppt/media/image5.png" Id="R87824d212fa844f3" /><Relationship Type="http://schemas.openxmlformats.org/officeDocument/2006/relationships/notesSlide" Target="/ppt/notesSlides/notesSlide12.xml" Id="Rad27bd3aa8e54d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be3322f384e77" /><Relationship Type="http://schemas.openxmlformats.org/officeDocument/2006/relationships/notesSlide" Target="/ppt/notesSlides/notesSlide13.xml" Id="R997c5d173f114e0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0a267499f4427" /><Relationship Type="http://schemas.openxmlformats.org/officeDocument/2006/relationships/notesSlide" Target="/ppt/notesSlides/notesSlide14.xml" Id="R5c8f2e663b0740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4b1c008d14e93"/>
          <a:srcRect xmlns:a="http://schemas.openxmlformats.org/drawingml/2006/main" l="25815" t="0" r="258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685800"/>
            <a:ext cx="4238625" cy="5476875"/>
          </a:xfrm>
          <a:prstGeom xmlns:a="http://schemas.openxmlformats.org/drawingml/2006/main" prst="roundRect">
            <a:avLst>
              <a:gd name="adj" fmla="val 2247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0DC486-A733-43CC-955D-2C419570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50006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6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SOCIAL AUDIT PRO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07267A-930D-409A-89B0-C07D570B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5524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Auditoria y analisis</a:t>
            </a:r>
          </a:p>
          <a:p xmlns:a="http://schemas.openxmlformats.org/drawingml/2006/main">
            <a:pPr>
              <a:defRPr sz="35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 redes sociales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AD7B88-D67B-4615-8345-981991EC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095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458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D4E5E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D4E5EF"/>
                </a:solidFill>
                <a:latin typeface="Arial"/>
                <a:ea typeface="Arial"/>
                <a:cs typeface="Arial"/>
              </a:rPr>
              <a:t>Presentacion de funcionalidades y manual de uso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DF8CA-A739-489E-9BF7-1225C564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C3D3E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3D3E0"/>
                </a:solidFill>
                <a:latin typeface="Arial"/>
                <a:ea typeface="Arial"/>
                <a:cs typeface="Arial"/>
              </a:rPr>
              <a:t>Integrantes: [completar nombres]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F65646-55BA-4117-AD36-BB51CE8D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A8BFCE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8BFCE"/>
                </a:solidFill>
                <a:latin typeface="Arial"/>
                <a:ea typeface="Arial"/>
                <a:cs typeface="Arial"/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15789449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7B7B53-6B3C-474A-A6FD-3B73CF7A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Social Audit Pro en una mirada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1C2D9-03D0-42F4-B4AB-4623AC40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57275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Una plataforma para revisar cuentas sociales, entender el rendimiento y preparar decisiones.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3AB68-F77F-49F2-BB0F-1FB9CB6F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2524125" cy="3714750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2BE3CA-59A7-4018-9C5E-308CE431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F9F95C-D7C7-4AF6-89CA-4DCA35C9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EDADA0-2F25-4188-AF97-587C585A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876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74B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74B7"/>
                </a:solidFill>
                <a:latin typeface="Arial"/>
                <a:ea typeface="Arial"/>
                <a:cs typeface="Arial"/>
              </a:rPr>
              <a:t>Panel ejecutivo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D5A20-7E1A-4450-91BA-8408EBFF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1876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Reune KPIs, salud de cuenta, tendencias y prioridades de accion.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A8A81B-9EF4-4313-82A5-BB13DA57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095500"/>
            <a:ext cx="2524125" cy="3714750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9EDD1-D447-4403-8956-FF5EC71F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4003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7B9"/>
          </a:solidFill>
          <a:ln xmlns:a="http://schemas.openxmlformats.org/drawingml/2006/main" w="0">
            <a:solidFill>
              <a:srgbClr val="17A7B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7357FE-2A40-449C-94D9-CD2263D5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24003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AF0A8D-1838-484E-806C-1CE55BD5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3333750"/>
            <a:ext cx="1876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11D66-C77F-4DFF-8DC6-65B5DACE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4019550"/>
            <a:ext cx="1876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Evalua dimensiones de rendimiento con reglas y explicaciones visibles.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B09040-67FB-4A17-A699-F803D27D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2524125" cy="3714750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FAC9D-0314-42E9-9990-433A79BF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003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064"/>
          </a:solidFill>
          <a:ln xmlns:a="http://schemas.openxmlformats.org/drawingml/2006/main" w="0">
            <a:solidFill>
              <a:srgbClr val="1FA06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A2D1A0-BB1F-4F51-8D62-34303DD8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003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2AE7FA-1C5F-4D0A-B476-1D80A6EC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1876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A06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A064"/>
                </a:solidFill>
                <a:latin typeface="Arial"/>
                <a:ea typeface="Arial"/>
                <a:cs typeface="Arial"/>
              </a:rPr>
              <a:t>Reportes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375BC1-9BE0-4C12-8754-7C41C643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19550"/>
            <a:ext cx="1876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Conserva reportes y genera un PDF ejecutivo descargable.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EF81A-891F-4458-B0B9-C4DA202B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095500"/>
            <a:ext cx="2524125" cy="3714750"/>
          </a:xfrm>
          <a:prstGeom xmlns:a="http://schemas.openxmlformats.org/drawingml/2006/main" prst="roundRect">
            <a:avLst>
              <a:gd name="adj" fmla="val 5283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E95A44-A887-4FC7-8E2A-09900E378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4003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8932"/>
          </a:solidFill>
          <a:ln xmlns:a="http://schemas.openxmlformats.org/drawingml/2006/main" w="0">
            <a:solidFill>
              <a:srgbClr val="F1893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0F2BB-DE5B-481C-8A26-73DC080E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24003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DCAB53-3233-4867-A516-E5480F0C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333750"/>
            <a:ext cx="18764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189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18932"/>
                </a:solidFill>
                <a:latin typeface="Arial"/>
                <a:ea typeface="Arial"/>
                <a:cs typeface="Arial"/>
              </a:rPr>
              <a:t>Administracion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0B5C93-8EB9-46DB-9C44-6940FB4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019550"/>
            <a:ext cx="187642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Gestiona usuarios, roles, organizaciones e integraciones.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C90071-5536-4902-A734-8B70B6D8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54E50E-AEFF-4A81-B524-2B4D0D13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82582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C3870-2BD0-42EA-808F-094EEE4B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857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6E905-50A5-4225-A61A-C23EF979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857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Como funciona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EAC84-792E-414D-951C-A2E6F70C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847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4D6E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4D6E6"/>
                </a:solidFill>
                <a:latin typeface="Arial"/>
                <a:ea typeface="Arial"/>
                <a:cs typeface="Arial"/>
              </a:rPr>
              <a:t>De las cuentas sociales a decisiones con contexto</a:t>
            </a:r>
          </a:p>
        </p:txBody>
      </p:sp>
    </p:spTree>
    <p:extLst>
      <p:ext uri="{BB962C8B-B14F-4D97-AF65-F5344CB8AC3E}">
        <p14:creationId xmlns:p14="http://schemas.microsoft.com/office/powerpoint/2010/main" val="9089190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C21950-81EA-44E4-BE98-CCE18AFC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El recorrido de la informacion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BC0A36-C962-4905-9AA4-8B70C40E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2209800" cy="23050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7E0E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7E47E-22DA-4FC1-B90F-5FA06AB1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BF4680-50C1-4AC9-83D4-8692E27F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F97A9E-57E1-494B-9A2D-1C989B69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1666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Administrador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4A3771-A4B6-4476-AC2D-A63799CA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009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Registra usuarios y elige la organizacion activa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9BB94-EBCB-4D52-B760-F016A4C93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33375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C708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4A8E2E-DCAB-477E-870B-FC6F6A82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90750"/>
            <a:ext cx="2209800" cy="23050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7E0E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759455-2A2C-41D0-9B78-443DFB87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193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7B9"/>
          </a:solidFill>
          <a:ln xmlns:a="http://schemas.openxmlformats.org/drawingml/2006/main" w="0">
            <a:solidFill>
              <a:srgbClr val="17A7B9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CF6592-8391-427D-8CFC-93381EF8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193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3B104-E72D-47F5-ACC2-DC3D5E6E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14700"/>
            <a:ext cx="1666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Integraciones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77D94F-1C3F-4A41-9F2A-743D8F82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857625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Autoriza una cuenta de red social cuando existen credenciales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8FE8C-5147-4C90-AA00-F1FFA165F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3375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C7083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6E9FC-0C10-4A55-ACEC-C111C7340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90750"/>
            <a:ext cx="2209800" cy="23050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7E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1F5C60-866E-4D46-9AFF-715CF579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E48"/>
          </a:solidFill>
          <a:ln xmlns:a="http://schemas.openxmlformats.org/drawingml/2006/main" w="0">
            <a:solidFill>
              <a:srgbClr val="102E48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E26B9C-CAC4-47BF-B8A1-C0C101A1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F21AC6-6983-4542-9445-47F918A9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14700"/>
            <a:ext cx="1666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API y analitica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DB62F5-74AD-4576-86D9-89DEA574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57625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Normaliza datos, calcula indicadores y detecta hallazgos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B496DB-BC1A-4950-8F64-E333E341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476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5C708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CE37AC-5B1C-4005-9E87-991346DF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209800" cy="2305050"/>
          </a:xfrm>
          <a:prstGeom xmlns:a="http://schemas.openxmlformats.org/drawingml/2006/main" prst="roundRect">
            <a:avLst>
              <a:gd name="adj" fmla="val 60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D7E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94FD7F-F5F7-4110-B6EE-22E892A81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193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064"/>
          </a:solidFill>
          <a:ln xmlns:a="http://schemas.openxmlformats.org/drawingml/2006/main" w="0">
            <a:solidFill>
              <a:srgbClr val="1FA06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65F1C5-B4D8-4C61-BE1D-147BFAB7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193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D13D0E-5CFE-45C6-80F2-4A549BFF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14700"/>
            <a:ext cx="1666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C50606-D728-4459-A49F-D5AB717CA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57625"/>
            <a:ext cx="163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Muestra auditorias, comparativas y recomendaciones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7EE659-E6CD-4EC9-BE10-48B1B0AD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95875"/>
            <a:ext cx="6477000" cy="981075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0E4"/>
          </a:solidFill>
          <a:ln xmlns:a="http://schemas.openxmlformats.org/drawingml/2006/main" w="0">
            <a:solidFill>
              <a:srgbClr val="FFF0E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1FD8E4-7D64-46BA-9DEA-EC88E768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5276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189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8932"/>
                </a:solidFill>
                <a:latin typeface="Arial"/>
                <a:ea typeface="Arial"/>
                <a:cs typeface="Arial"/>
              </a:rPr>
              <a:t>Reportes PDF e historicos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2468D5-55AF-4B14-BD1C-F88BD9A9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5629275"/>
            <a:ext cx="5715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674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22B42"/>
                </a:solidFill>
                <a:latin typeface="Arial"/>
                <a:ea typeface="Arial"/>
                <a:cs typeface="Arial"/>
              </a:rPr>
              <a:t>El sistema conserva reportes, publicaciones, actividad e historicos dentro de la organizacion correspondiente.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0CA094-651D-45DE-928D-E571361C6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5DBCED-4AD2-49FE-9262-63ECFFDA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192447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38230C-CAE9-4184-AE83-10C55A56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Actualizacion al ingresar al 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9959ED-CC89-49CF-86C6-961E14A5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57275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El sistema mantiene los datos disponibles mientras consulta las conexiones configuradas.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6A4C3-EEFE-4A93-9077-B89B91B7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95161-3440-4D7A-B216-A5618281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4B7FA-76D8-4CC9-9354-1C719E15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90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Inicia sesion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7DE27F-580F-4196-BAFC-1269FAAF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67100"/>
            <a:ext cx="1762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 persona entra con su usuario y el sistema identifica su rol y organizacion.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4F4800-5723-4305-AD36-017FB675F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43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6ECBDF-6255-44EC-B46D-85B60CCD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14312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ADF56E-61E6-4918-B260-350A6E59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990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58C203-5DC8-4F1C-83AF-53170AFA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467100"/>
            <a:ext cx="1762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El navegador solicita la actualizacion con sesion y proteccion CSRF.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91678F-B93F-4353-A327-BF888534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143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DD4BE9-5F5D-463F-828A-373CF728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14312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769E15-2534-4ED7-9A81-05FC17ED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990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Frecuencia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77C6AE-00B7-475D-8A7C-EC0A1825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467100"/>
            <a:ext cx="1762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SQLite evita consultas repetidas durante el intervalo minimo de quince minutos.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6516D4-3969-443A-AACD-DB532E18C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143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05ABEF-0D69-4D8E-9F63-DB5BEF59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14312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11FCBD-DA99-4242-BA89-5C8BE9AB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990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Guarda datos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97D62F-50A7-43CC-B78E-24B8AE3F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67100"/>
            <a:ext cx="17621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3691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 sincronizacion valida permisos antes de persistir cuentas, publicaciones e historicos.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237D8C-E3FE-4CE8-9052-C86BFF5C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4312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1A067-DE18-4910-836D-6D4041EB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14312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C819B1-D8F2-4107-840F-BF3C5D96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9908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46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Muestra resultados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0AB81B-F3EE-438C-98ED-7F7742D6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467100"/>
            <a:ext cx="1619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 vista conserva datos previos si un proveedor no responde a tiempo.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C7993F-B083-4575-BE90-51863A12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81625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Solo funciona con backend encendido, conexiones autorizadas y credenciales validas. GitHub Pages no ejecuta esta sincronizacion.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6BC79A-6B99-4E01-B16D-3A1083B5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1C009E-418A-43FD-83BC-84DD5219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0786002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B68E69-ABF2-40A5-964B-1E4ED458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Como se genera el analisis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C6EE4-E7A6-407A-91F8-F9940A20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57275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Cada vista parte de datos disponibles y explica las reglas utilizadas.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5CD3E9-2FC3-4423-A581-DEF6A72E0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47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B96A9-DE0B-436B-9FDA-7472DB3F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4787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EB8BD3-D5DF-41A8-8EBF-0E33F15C4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956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Metricas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8E9FA-60A7-4968-B17F-BA88D428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37185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Recibe seguidores, alcance, interacciones, publicaciones y otros datos autorizados.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BD2AA-C58B-4A0E-B19D-D1D17AF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047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4FE85-16DB-4DE7-A651-F5EE278B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04787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EDEA1-7A60-4F2E-A407-95EC0D17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8956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Formulas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D8388-1F51-4E95-9037-BC2A267A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37185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Calcula indicadores como engagement y variaciones frente al periodo anterior.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6AE47-2DCD-4670-A38C-8F2C10E7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047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CAC63-E7E9-4C97-B03D-3DE1EC66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04787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F8F775-52D8-44BD-AF3A-2D1C8F6AC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8956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14660-1F02-4CEB-B7FA-FE152523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337185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Clasifica el resultado por presencia, actividad, contenido, crecimiento y alcance.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DF1878-6787-4BC0-B41C-1881B0DA1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47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14B982-0466-4A91-BECA-1140C722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04787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0A91A0-26B1-4114-AB53-3FB0333F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Hallazgos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D9208-44A4-400F-9877-9F155D18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37185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7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Identifica tendencias, fortalezas, problemas y anomalias que merecen revision.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1349D8-623B-4AF6-9801-1B3A85D9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047875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F6B727-D6E1-4634-B991-E3A087E4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047875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524A42-9447-4785-91D3-0E1185B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289560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Acciones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610C37-B6DA-40C1-9D75-A2006CFA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337185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Propone acciones con el dato observado y el impacto esperado.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5F2DC1-1598-4EFA-8A77-614F15BE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81575"/>
            <a:ext cx="10620375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DCEFF7"/>
          </a:solidFill>
          <a:ln xmlns:a="http://schemas.openxmlformats.org/drawingml/2006/main" w="0">
            <a:solidFill>
              <a:srgbClr val="DCEFF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5374D6-E8BF-4FEE-8E9F-3CA02C95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191125"/>
            <a:ext cx="209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9048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74B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74B7"/>
                </a:solidFill>
                <a:latin typeface="Arial"/>
                <a:ea typeface="Arial"/>
                <a:cs typeface="Arial"/>
              </a:rPr>
              <a:t>Principio del sistema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DBBDB7-7967-4196-9AD3-FE4E48C6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91125"/>
            <a:ext cx="7620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466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22B42"/>
                </a:solidFill>
                <a:latin typeface="Arial"/>
                <a:ea typeface="Arial"/>
                <a:cs typeface="Arial"/>
              </a:rPr>
              <a:t>No inventa metricas ausentes: la informacion depende de los permisos y de la disponibilidad de cada API.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6F1432-E88F-4C1C-BAAB-E215ADB8B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FC1806-7E73-4556-ACB2-B577B22B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3480381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0E3B0-97FA-4899-B31D-FE3AA826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Las vistas para analizar y administrar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C82C7E-119E-4247-9AE3-7EA149BB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57275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 navegacion separa los temas para evitar concentrar todas las metricas en una sola pantalla.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0b508c4c44a82"/>
          <a:srcRect xmlns:a="http://schemas.openxmlformats.org/drawingml/2006/main" l="1780" t="0" r="17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1857375"/>
            <a:ext cx="4953000" cy="3209925"/>
          </a:xfrm>
          <a:prstGeom xmlns:a="http://schemas.openxmlformats.org/drawingml/2006/main" prst="roundRect">
            <a:avLst>
              <a:gd name="adj" fmla="val 2967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430AF6-420C-4A93-91CF-72A4653F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Analisis diario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E0373-135B-40F9-85A2-7396FBCF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4953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Dashboard, auditoria, metricas, contenido, audiencia, comparativas, insights y recomendaciones.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84d1331c484bbd"/>
          <a:srcRect xmlns:a="http://schemas.openxmlformats.org/drawingml/2006/main" l="1780" t="0" r="17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857375"/>
            <a:ext cx="4953000" cy="3209925"/>
          </a:xfrm>
          <a:prstGeom xmlns:a="http://schemas.openxmlformats.org/drawingml/2006/main" prst="roundRect">
            <a:avLst>
              <a:gd name="adj" fmla="val 296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6CB97-CC1D-4C07-B5F0-73DEA9F1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863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0952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Gestion del sistema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71A89-510F-4635-930A-E9E3C596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638800"/>
            <a:ext cx="4762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Reportes, integraciones, usuarios, organizaciones y configuracion de seguridad.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210CE9-D603-4F3F-A627-2CEC9CBB3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82668-5078-4014-9138-5A9D9E8D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83522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1A9D72-BC43-426C-BA64-B6697768A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Reportes para compartir resultados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36ee63df04cb8"/>
          <a:srcRect xmlns:a="http://schemas.openxmlformats.org/drawingml/2006/main" l="8882" t="0" r="88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2750" y="1714500"/>
            <a:ext cx="4762500" cy="3619500"/>
          </a:xfrm>
          <a:prstGeom xmlns:a="http://schemas.openxmlformats.org/drawingml/2006/main" prst="roundRect">
            <a:avLst>
              <a:gd name="adj" fmla="val 2632"/>
            </a:avLst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6BC82E-1420-42F3-AC35-CB605F35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47875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205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74B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74B7"/>
                </a:solidFill>
                <a:latin typeface="Arial"/>
                <a:ea typeface="Arial"/>
                <a:cs typeface="Arial"/>
              </a:rPr>
              <a:t>Que incluye un reporte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6FE0A-6B6D-432A-A9BD-91114A9B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50006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El sistema guarda los reportes por organizacion y genera un PDF ejecutivo para descargar.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D9111B-D34D-46C3-9C4B-A2FCA72B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1475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1  Elegir periodo y cuentas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3DBB8-A04F-4875-871B-2B464EFF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7195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2  Revisar indicadores y hallazgos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D014D1-1CE1-47A6-A51B-C616614A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2915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3  Generar el reporte PDF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43443-ED1E-49D8-BBAB-40801938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76900"/>
            <a:ext cx="5238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098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 exportacion se ejecuta en la version local con el backend disponible.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6CDB9-94D7-4F83-A326-9899631E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8A849-9622-40C3-959E-56DA563C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54470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B80E3-A3C9-44A6-AC64-BD2BF967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71675"/>
            <a:ext cx="142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857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E4558-075B-44A5-94C0-98DA3BD0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8572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Seguridad y uso por perfiles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0952D-D9DB-49C2-90AF-482E32DC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C4D6E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C4D6E6"/>
                </a:solidFill>
                <a:latin typeface="Arial"/>
                <a:ea typeface="Arial"/>
                <a:cs typeface="Arial"/>
              </a:rPr>
              <a:t>El sistema separa el trabajo del administrador y la consulta del cliente</a:t>
            </a:r>
          </a:p>
        </p:txBody>
      </p:sp>
    </p:spTree>
    <p:extLst>
      <p:ext uri="{BB962C8B-B14F-4D97-AF65-F5344CB8AC3E}">
        <p14:creationId xmlns:p14="http://schemas.microsoft.com/office/powerpoint/2010/main" val="13533612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530A96-CED1-4497-862F-18E18D90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Proteccion de cuentas y datos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AD2F38-D810-46D1-88A5-5C9F6E89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50006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CB267-45C5-458C-AB56-93686349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2860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41217-93C0-4EC3-80D2-210D50C0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2860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EF25C8-D1D3-4BF3-AF96-0AEC0F8C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1932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53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74B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74B7"/>
                </a:solidFill>
                <a:latin typeface="Arial"/>
                <a:ea typeface="Arial"/>
                <a:cs typeface="Arial"/>
              </a:rPr>
              <a:t>Acceso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3B029-13CB-4EA6-80DE-E1FC21C0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63842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03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Registro inicial, inicio y cierre de sesion, verificacion de correo y recuperacion de contrasena.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79633-2775-4878-9B4E-A7A9271E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905000"/>
            <a:ext cx="50006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18094-2BA2-4DD1-B42C-B82F3AEB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7B9"/>
          </a:solidFill>
          <a:ln xmlns:a="http://schemas.openxmlformats.org/drawingml/2006/main" w="0">
            <a:solidFill>
              <a:srgbClr val="17A7B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BA91A0-F470-4C78-B260-3419630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C8C1D-2120-47B7-904A-48DB6BEB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1932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53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Segundo factor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481ACC-0925-4310-9400-BC5C71B0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63842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369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MFA TOTP con codigos de recuperacion para reforzar el acceso cuando se habilita.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4598C-2DD2-44FE-8A9B-6E32FF2C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50006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26B5D9-48D9-425E-9514-A9F47D29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286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FA064"/>
          </a:solidFill>
          <a:ln xmlns:a="http://schemas.openxmlformats.org/drawingml/2006/main" w="0">
            <a:solidFill>
              <a:srgbClr val="1FA06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8B6920-6BF5-4601-A8A8-43BF8DD1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286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AF6EF2-6DC4-4B2A-9CD8-E6A229E3A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1957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53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FA06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FA064"/>
                </a:solidFill>
                <a:latin typeface="Arial"/>
                <a:ea typeface="Arial"/>
                <a:cs typeface="Arial"/>
              </a:rPr>
              <a:t>Organizaciones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10AF72-236D-4AD6-9FF3-F8A5721A0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3867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319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Cada empresa ve las cuentas, historicos, reportes e integraciones que le corresponden.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E7B890-17C8-4243-9DB0-CD054655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905250"/>
            <a:ext cx="50006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3F6F9"/>
          </a:solidFill>
          <a:ln xmlns:a="http://schemas.openxmlformats.org/drawingml/2006/main" w="0">
            <a:solidFill>
              <a:srgbClr val="F3F6F9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D42D2A-643A-4888-9227-3163D881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86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8932"/>
          </a:solidFill>
          <a:ln xmlns:a="http://schemas.openxmlformats.org/drawingml/2006/main" w="0">
            <a:solidFill>
              <a:srgbClr val="F1893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656B6B-5C53-47B4-9924-6B7E98969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286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B06ACC-B52C-4E8D-A720-CC5BCF3F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219575"/>
            <a:ext cx="3333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536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18932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18932"/>
                </a:solidFill>
                <a:latin typeface="Arial"/>
                <a:ea typeface="Arial"/>
                <a:cs typeface="Arial"/>
              </a:rPr>
              <a:t>Secretos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35EB7-543F-454E-899D-CFDFE6EC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638675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Las configuraciones sensibles y tokens OAuth se cifran antes de persistirse.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A66F27-902C-471A-B7D7-E18C5942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34075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Las claves, tokens y datos privados no se incluyen en GitHub ni en la demostracion publica.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B4DF2D-7849-460B-BC30-F2EE50B3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FC29F9-F545-482F-A42A-E2D83C7F6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49107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2D5FC2-0CD0-4B40-9D75-457EED565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Manual del administrador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B3405-39AF-41A5-BC50-8A99A81E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FEA78-6678-4BA8-9F80-BBE98A12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7E557-AAE2-4EB1-96AE-F90BF634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0037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Crea la cuenta inicial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945FE-0052-4852-B76F-446076D6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Abre #/cuenta en una base nueva.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DEFDF5-7DD1-4497-9359-86B4987E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00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0D70B-5B9E-454D-A119-CA64A61C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0BD8D-C389-4171-A4AF-4FFD8FC3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0037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Crea la organizacion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9096E-F82A-47E2-B6A5-925D848A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147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Define la empresa que administrara las cuentas.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7C3F6B-FEAE-420E-9056-BC8CCBF8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F9951-3390-4CB9-8FE0-0F1027C9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5D528B-F6CD-4113-A986-EC357A01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00037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Agrega usuarios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28FA11-E2DF-4C08-8CB0-5425D635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7147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Asigna roles de administrador, analista o cliente.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29D27-F2A9-4155-A633-60D9DCCA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546238-8E1A-4FBC-A778-A1D936B5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4D7A17-0986-4360-969F-2A643CA5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0037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Configura conexiones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56DBCB-502A-471C-B6DF-07C889EF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7147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68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Registra solo integraciones con credenciales aprobadas.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5F771-7816-42F7-80AB-7CFB430C4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002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74B7"/>
          </a:solidFill>
          <a:ln xmlns:a="http://schemas.openxmlformats.org/drawingml/2006/main" w="0">
            <a:solidFill>
              <a:srgbClr val="1174B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3C4710-56F8-4DE2-9FC6-1E38F2FA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00250"/>
            <a:ext cx="704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7F3573-80DB-4E7E-8F1A-A4799C5D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00375"/>
            <a:ext cx="180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Revisa y reporta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C35D7A-6329-455F-BA66-9C457F5D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1809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Entra al dashboard, analiza hallazgos y descarga el PDF.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9476D1-C913-4B3C-85EB-A125B2EF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810875" cy="704850"/>
          </a:xfrm>
          <a:prstGeom xmlns:a="http://schemas.openxmlformats.org/drawingml/2006/main" prst="roundRect">
            <a:avLst>
              <a:gd name="adj" fmla="val 18919"/>
            </a:avLst>
          </a:prstGeom>
          <a:solidFill xmlns:a="http://schemas.openxmlformats.org/drawingml/2006/main">
            <a:srgbClr val="FFF0E4"/>
          </a:solidFill>
          <a:ln xmlns:a="http://schemas.openxmlformats.org/drawingml/2006/main" w="0">
            <a:solidFill>
              <a:srgbClr val="FFF0E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3702F9-AA72-4DAE-BE21-97437F25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387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193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18932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18932"/>
                </a:solidFill>
                <a:latin typeface="Arial"/>
                <a:ea typeface="Arial"/>
                <a:cs typeface="Arial"/>
              </a:rPr>
              <a:t>Importante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ACF046-6310-4414-9ABC-DDE3F26E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429250"/>
            <a:ext cx="8334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22B42"/>
                </a:solidFill>
                <a:latin typeface="Arial"/>
                <a:ea typeface="Arial"/>
                <a:cs typeface="Arial"/>
              </a:rPr>
              <a:t>Una organizacion debe contener una sola empresa cliente para mantener el aislamiento de datos.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093B1A-50F7-4D08-919C-E149DD03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6744A1-0E20-4F46-931D-53DC39C0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566520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0BF6B6-EB16-4927-ABFB-A8806986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Manual del cliente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DFAC7A-DF03-4CCD-BC9F-1D231630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57275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167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El cliente consulta el impacto de las cuentas que el administrador asigna a su empresa.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824d212fa844f3"/>
          <a:srcRect xmlns:a="http://schemas.openxmlformats.org/drawingml/2006/main" l="0" t="2044" r="0" b="2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0" y="1752600"/>
            <a:ext cx="5219700" cy="3476625"/>
          </a:xfrm>
          <a:prstGeom xmlns:a="http://schemas.openxmlformats.org/drawingml/2006/main" prst="roundRect">
            <a:avLst>
              <a:gd name="adj" fmla="val 274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E0F09C-1755-4596-BC51-E3C65B7B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4572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921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1  Ingresa por #/cuenta/client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B03B9-150B-49DB-8CC7-ABEF8EEB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476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17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2  Inicia sesion con el usuario creado por el administrador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AA624-3F42-4320-940F-FA522F45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47625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3  Consulta comunidad, publicaciones, visualizaciones, likes y tabla de impacto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8A191-2818-4B8D-8D84-7FE9DAC05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Si no hay conexiones o datos para su empresa, el portal no muestra ejemplos simulados.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72D3D-729A-4CC4-872F-75D4DEA4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295B4-2F7E-483C-BD82-F62AD679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390637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661B9-49B1-41AC-8DB8-4014416B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75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22B42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22B42"/>
                </a:solidFill>
                <a:latin typeface="Arial"/>
                <a:ea typeface="Arial"/>
                <a:cs typeface="Arial"/>
              </a:rPr>
              <a:t>Integraciones y limites actuales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F492F-1C5B-4CA3-B373-34F4330F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209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59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FA06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FA064"/>
                </a:solidFill>
                <a:latin typeface="Arial"/>
                <a:ea typeface="Arial"/>
                <a:cs typeface="Arial"/>
              </a:rPr>
              <a:t>YouTube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8192F-B230-4B85-95FC-B25C7D2B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7925"/>
            <a:ext cx="39528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77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Es el conector OAuth mas maduro. Requiere credenciales propias de Google para activarse.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EB9FE-3801-4A71-A30D-3931A756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19300"/>
            <a:ext cx="5334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859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174B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74B7"/>
                </a:solidFill>
                <a:latin typeface="Arial"/>
                <a:ea typeface="Arial"/>
                <a:cs typeface="Arial"/>
              </a:rPr>
              <a:t>Facebook, Instagram, TikTok, LinkedIn y 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F271DC-C783-4CCA-A515-B379608D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447925"/>
            <a:ext cx="52387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51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Los adaptadores existen, pero necesitan aplicaciones registradas, permisos aprobados y validacion con cuentas reales.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56702-AE67-4618-BAFE-57BD2800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52625"/>
            <a:ext cx="0" cy="180022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D7E0E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61A395-5936-4280-B29D-78289C2A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10096500" cy="981075"/>
          </a:xfrm>
          <a:prstGeom xmlns:a="http://schemas.openxmlformats.org/drawingml/2006/main" prst="roundRect">
            <a:avLst>
              <a:gd name="adj" fmla="val 13592"/>
            </a:avLst>
          </a:prstGeom>
          <a:solidFill xmlns:a="http://schemas.openxmlformats.org/drawingml/2006/main">
            <a:srgbClr val="FFF0E4"/>
          </a:solidFill>
          <a:ln xmlns:a="http://schemas.openxmlformats.org/drawingml/2006/main" w="0">
            <a:solidFill>
              <a:srgbClr val="FFF0E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8F7B8-A7DF-4D68-87CF-8AB802334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57700"/>
            <a:ext cx="9001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3485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1893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18932"/>
                </a:solidFill>
                <a:latin typeface="Arial"/>
                <a:ea typeface="Arial"/>
                <a:cs typeface="Arial"/>
              </a:rPr>
              <a:t>X permanece desactivado mientras no se aprueben sus costes.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D616C1-AC12-45B6-A51A-BAAEEA570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86425"/>
            <a:ext cx="10287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GitHub Pages solo publica una demostracion estatica. No ejecuta login, base de datos, correo ni sincronizaciones.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3ECBBE-1E30-401A-855D-B1D9EAD9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504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Social Audit Pro - Presentacion y manual de uso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8D604B-6AF8-4A12-B193-2C1E2F15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77000"/>
            <a:ext cx="809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C708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C708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13179033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E4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32BBE-19B1-4E91-943F-4ECFCD66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3429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07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A7B9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A7B9"/>
                </a:solidFill>
                <a:latin typeface="Arial"/>
                <a:ea typeface="Arial"/>
                <a:cs typeface="Arial"/>
              </a:rPr>
              <a:t>SIGUIENTES PASOS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216E8E-C4CA-4239-99ED-99F89480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667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185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Estado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0CAD61-C8E8-44B7-A147-742BBF47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4575"/>
            <a:ext cx="7429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D4E5E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D4E5EF"/>
                </a:solidFill>
                <a:latin typeface="Arial"/>
                <a:ea typeface="Arial"/>
                <a:cs typeface="Arial"/>
              </a:rPr>
              <a:t>El MVP funciona de forma local. Estos pasos permiten llevarlo a pruebas reales y luego a produccion.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50898-6C0C-40DC-BBC9-E42F9E34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76625"/>
            <a:ext cx="904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921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 Obtener credenciales y permisos de la primera red social adicional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35CF8-EE10-4B5F-B9FA-B66DE181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19550"/>
            <a:ext cx="904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921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  Validar sincronizacion y metricas con cuentas reales de prueba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A03F1-31E5-4D35-99B4-B986A4F0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62475"/>
            <a:ext cx="9429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921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  Elegir alojamiento, PostgreSQL, correo empresarial y gestion de secretos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4BD183-F985-4BC1-97A7-A961C9FE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9D2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D2DF"/>
                </a:solidFill>
                <a:latin typeface="Arial"/>
                <a:ea typeface="Arial"/>
                <a:cs typeface="Arial"/>
              </a:rPr>
              <a:t>Repositorio: github.com/TheKnight2122/social-audit-pro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A6E40E-6A50-43E8-836F-DC898DC0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62675"/>
            <a:ext cx="628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17"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9D2D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D2DF"/>
                </a:solidFill>
                <a:latin typeface="Arial"/>
                <a:ea typeface="Arial"/>
                <a:cs typeface="Arial"/>
              </a:rPr>
              <a:t>Demostracion: theknight2122.github.io/social-audit-pro</a:t>
            </a:r>
          </a:p>
        </p:txBody>
      </p:sp>
    </p:spTree>
    <p:extLst>
      <p:ext uri="{BB962C8B-B14F-4D97-AF65-F5344CB8AC3E}">
        <p14:creationId xmlns:p14="http://schemas.microsoft.com/office/powerpoint/2010/main" val="12980990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2026-10-06T15:50:05.5830000Z</dcterms:created>
  <dcterms:modified xsi:type="dcterms:W3CDTF">2026-10-06T15:50:05.5830000Z</dcterms:modified>
</coreProperties>
</file>